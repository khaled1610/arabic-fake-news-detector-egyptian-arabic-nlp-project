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400" d="100"/>
          <a:sy n="400" d="100"/>
        </p:scale>
        <p:origin x="-9058" y="-636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96662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1000125" y="1001437"/>
            <a:ext cx="7143750" cy="3140599"/>
          </a:xfrm>
          <a:prstGeom prst="rect">
            <a:avLst/>
          </a:prstGeom>
          <a:solidFill>
            <a:srgbClr val="E9ECEF"/>
          </a:solidFill>
          <a:ln/>
        </p:spPr>
        <p:txBody>
          <a:bodyPr/>
          <a:lstStyle/>
          <a:p>
            <a:endParaRPr lang="en-US"/>
          </a:p>
        </p:txBody>
      </p:sp>
      <p:sp>
        <p:nvSpPr>
          <p:cNvPr id="4" name="Shape 1"/>
          <p:cNvSpPr/>
          <p:nvPr/>
        </p:nvSpPr>
        <p:spPr>
          <a:xfrm>
            <a:off x="1000125" y="1001437"/>
            <a:ext cx="28575" cy="3140599"/>
          </a:xfrm>
          <a:prstGeom prst="rect">
            <a:avLst/>
          </a:prstGeom>
          <a:solidFill>
            <a:srgbClr val="0056B3"/>
          </a:solidFill>
          <a:ln/>
        </p:spPr>
        <p:txBody>
          <a:bodyPr/>
          <a:lstStyle/>
          <a:p>
            <a:endParaRPr lang="en-US"/>
          </a:p>
        </p:txBody>
      </p:sp>
      <p:sp>
        <p:nvSpPr>
          <p:cNvPr id="5" name="Text 2"/>
          <p:cNvSpPr/>
          <p:nvPr/>
        </p:nvSpPr>
        <p:spPr>
          <a:xfrm>
            <a:off x="1357313" y="1650653"/>
            <a:ext cx="6429375" cy="1107281"/>
          </a:xfrm>
          <a:prstGeom prst="rect">
            <a:avLst/>
          </a:prstGeom>
          <a:noFill/>
          <a:ln/>
        </p:spPr>
        <p:txBody>
          <a:bodyPr wrap="square" lIns="0" tIns="0" rIns="0" bIns="0" rtlCol="0" anchor="t">
            <a:spAutoFit/>
          </a:bodyPr>
          <a:lstStyle/>
          <a:p>
            <a:pPr marL="0" indent="0" algn="ctr">
              <a:buNone/>
            </a:pPr>
            <a:r>
              <a:rPr lang="en-US" sz="3500" dirty="0">
                <a:solidFill>
                  <a:srgbClr val="212529"/>
                </a:solidFill>
                <a:latin typeface="Inter Medium" pitchFamily="34" charset="0"/>
                <a:ea typeface="Inter Medium" pitchFamily="34" charset="-122"/>
                <a:cs typeface="Inter Medium" pitchFamily="34" charset="-120"/>
              </a:rPr>
              <a:t>Arabic Fake News Detection in Egypt Using NLP</a:t>
            </a:r>
            <a:endParaRPr lang="en-US" sz="3500" dirty="0"/>
          </a:p>
        </p:txBody>
      </p:sp>
      <p:sp>
        <p:nvSpPr>
          <p:cNvPr id="6" name="Text 3"/>
          <p:cNvSpPr/>
          <p:nvPr/>
        </p:nvSpPr>
        <p:spPr>
          <a:xfrm>
            <a:off x="1357313" y="2900809"/>
            <a:ext cx="6429375" cy="553641"/>
          </a:xfrm>
          <a:prstGeom prst="rect">
            <a:avLst/>
          </a:prstGeom>
          <a:noFill/>
          <a:ln/>
        </p:spPr>
        <p:txBody>
          <a:bodyPr wrap="square" lIns="0" tIns="0" rIns="0" bIns="0" rtlCol="0" anchor="t">
            <a:spAutoFit/>
          </a:bodyPr>
          <a:lstStyle/>
          <a:p>
            <a:pPr marL="0" indent="0" algn="ctr">
              <a:buNone/>
            </a:pPr>
            <a:r>
              <a:rPr lang="en-US" sz="1700" dirty="0">
                <a:solidFill>
                  <a:srgbClr val="495057"/>
                </a:solidFill>
                <a:latin typeface="Inter Light" pitchFamily="34" charset="0"/>
                <a:ea typeface="Inter Light" pitchFamily="34" charset="-122"/>
                <a:cs typeface="Inter Light" pitchFamily="34" charset="-120"/>
              </a:rPr>
              <a:t>A Comparative Study of Machine Learning and Deep Learning Architectures</a:t>
            </a:r>
            <a:endParaRPr lang="en-US" sz="1700" dirty="0"/>
          </a:p>
        </p:txBody>
      </p:sp>
      <p:sp>
        <p:nvSpPr>
          <p:cNvPr id="7" name="Text 4"/>
          <p:cNvSpPr/>
          <p:nvPr/>
        </p:nvSpPr>
        <p:spPr>
          <a:xfrm>
            <a:off x="1357313" y="3625900"/>
            <a:ext cx="6429375" cy="161583"/>
          </a:xfrm>
          <a:prstGeom prst="rect">
            <a:avLst/>
          </a:prstGeom>
          <a:noFill/>
          <a:ln/>
        </p:spPr>
        <p:txBody>
          <a:bodyPr wrap="square" lIns="0" tIns="0" rIns="0" bIns="0" rtlCol="0" anchor="t">
            <a:spAutoFit/>
          </a:bodyPr>
          <a:lstStyle/>
          <a:p>
            <a:pPr marL="0" indent="0" algn="ctr">
              <a:buNone/>
            </a:pPr>
            <a:r>
              <a:rPr lang="en-US" sz="1050" dirty="0">
                <a:solidFill>
                  <a:srgbClr val="495057"/>
                </a:solidFill>
                <a:latin typeface="Inter Light" pitchFamily="34" charset="0"/>
                <a:ea typeface="Inter Light" pitchFamily="34" charset="-122"/>
                <a:cs typeface="Inter Light" pitchFamily="34" charset="-120"/>
              </a:rPr>
              <a:t>NLP DSAI 353| May 10,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285750"/>
            <a:ext cx="8715375" cy="276820"/>
          </a:xfrm>
          <a:prstGeom prst="rect">
            <a:avLst/>
          </a:prstGeom>
          <a:noFill/>
          <a:ln/>
        </p:spPr>
        <p:txBody>
          <a:bodyPr wrap="square" lIns="0" tIns="0" rIns="0" bIns="0" rtlCol="0" anchor="t">
            <a:spAutoFit/>
          </a:bodyPr>
          <a:lstStyle/>
          <a:p>
            <a:pPr marL="0" indent="0" algn="l">
              <a:buNone/>
            </a:pPr>
            <a:r>
              <a:rPr lang="en-US" sz="1700" dirty="0">
                <a:solidFill>
                  <a:srgbClr val="212529"/>
                </a:solidFill>
                <a:latin typeface="Inter Medium" pitchFamily="34" charset="0"/>
                <a:ea typeface="Inter Medium" pitchFamily="34" charset="-122"/>
                <a:cs typeface="Inter Medium" pitchFamily="34" charset="-120"/>
              </a:rPr>
              <a:t>Abstract</a:t>
            </a:r>
            <a:endParaRPr lang="en-US" sz="1700" dirty="0"/>
          </a:p>
        </p:txBody>
      </p:sp>
      <p:sp>
        <p:nvSpPr>
          <p:cNvPr id="4" name="Shape 1"/>
          <p:cNvSpPr/>
          <p:nvPr/>
        </p:nvSpPr>
        <p:spPr>
          <a:xfrm>
            <a:off x="428625" y="791170"/>
            <a:ext cx="5562609" cy="3000375"/>
          </a:xfrm>
          <a:prstGeom prst="rect">
            <a:avLst/>
          </a:prstGeom>
          <a:solidFill>
            <a:srgbClr val="E9ECEF"/>
          </a:solidFill>
          <a:ln/>
        </p:spPr>
        <p:txBody>
          <a:bodyPr/>
          <a:lstStyle/>
          <a:p>
            <a:endParaRPr lang="en-US"/>
          </a:p>
        </p:txBody>
      </p:sp>
      <p:sp>
        <p:nvSpPr>
          <p:cNvPr id="5" name="Shape 2"/>
          <p:cNvSpPr/>
          <p:nvPr/>
        </p:nvSpPr>
        <p:spPr>
          <a:xfrm>
            <a:off x="428625" y="791170"/>
            <a:ext cx="28575" cy="3000375"/>
          </a:xfrm>
          <a:prstGeom prst="rect">
            <a:avLst/>
          </a:prstGeom>
          <a:solidFill>
            <a:srgbClr val="0056B3"/>
          </a:solidFill>
          <a:ln/>
        </p:spPr>
        <p:txBody>
          <a:bodyPr/>
          <a:lstStyle/>
          <a:p>
            <a:endParaRPr lang="en-US"/>
          </a:p>
        </p:txBody>
      </p:sp>
      <p:sp>
        <p:nvSpPr>
          <p:cNvPr id="6" name="Text 3"/>
          <p:cNvSpPr/>
          <p:nvPr/>
        </p:nvSpPr>
        <p:spPr>
          <a:xfrm>
            <a:off x="642938" y="1076920"/>
            <a:ext cx="5124441" cy="2286000"/>
          </a:xfrm>
          <a:prstGeom prst="rect">
            <a:avLst/>
          </a:prstGeom>
          <a:noFill/>
          <a:ln/>
        </p:spPr>
        <p:txBody>
          <a:bodyPr wrap="square" lIns="0" tIns="0" rIns="0" bIns="0" rtlCol="0" anchor="t">
            <a:spAutoFit/>
          </a:bodyPr>
          <a:lstStyle/>
          <a:p>
            <a:pPr marL="0" indent="0" algn="just">
              <a:lnSpc>
                <a:spcPct val="128000"/>
              </a:lnSpc>
              <a:buNone/>
            </a:pPr>
            <a:r>
              <a:rPr lang="en-US" sz="1050" dirty="0">
                <a:solidFill>
                  <a:srgbClr val="495057"/>
                </a:solidFill>
                <a:latin typeface="Inter Light" pitchFamily="34" charset="0"/>
                <a:ea typeface="Inter Light" pitchFamily="34" charset="-122"/>
                <a:cs typeface="Inter Light" pitchFamily="34" charset="-120"/>
              </a:rPr>
              <a:t>This project addresses the critical issue of fake news detection in Egyptian Arabic by leveraging Natural Language Processing (NLP) techniques. We developed and compared multiple machine learning (ML) and deep learning (DL) models, utilizing both labeled and external Egyptian Arabic corpora. The study highlights the challenges posed by linguistic nuances and data imbalance, demonstrating effective preprocessing strategies and model architectures to achieve high accuracy in classification. Key findings include a comparative analysis of model performance, emphasizing the strengths and limitations of each approach, and an exploration of model interpretability to enhance trust and understanding.</a:t>
            </a:r>
            <a:endParaRPr lang="en-US" sz="1050" dirty="0"/>
          </a:p>
        </p:txBody>
      </p:sp>
      <p:sp>
        <p:nvSpPr>
          <p:cNvPr id="7" name="Shape 4"/>
          <p:cNvSpPr/>
          <p:nvPr/>
        </p:nvSpPr>
        <p:spPr>
          <a:xfrm>
            <a:off x="6153141" y="791170"/>
            <a:ext cx="2562234" cy="514350"/>
          </a:xfrm>
          <a:prstGeom prst="rect">
            <a:avLst/>
          </a:prstGeom>
          <a:solidFill>
            <a:srgbClr val="FFFFFF"/>
          </a:solidFill>
          <a:ln/>
        </p:spPr>
        <p:txBody>
          <a:bodyPr/>
          <a:lstStyle/>
          <a:p>
            <a:endParaRPr lang="en-US"/>
          </a:p>
        </p:txBody>
      </p:sp>
      <p:sp>
        <p:nvSpPr>
          <p:cNvPr id="8" name="Shape 5"/>
          <p:cNvSpPr/>
          <p:nvPr/>
        </p:nvSpPr>
        <p:spPr>
          <a:xfrm>
            <a:off x="6153141" y="791170"/>
            <a:ext cx="2562234" cy="14288"/>
          </a:xfrm>
          <a:prstGeom prst="rect">
            <a:avLst/>
          </a:prstGeom>
          <a:solidFill>
            <a:srgbClr val="0056B3"/>
          </a:solidFill>
          <a:ln/>
        </p:spPr>
        <p:txBody>
          <a:bodyPr/>
          <a:lstStyle/>
          <a:p>
            <a:endParaRPr lang="en-US"/>
          </a:p>
        </p:txBody>
      </p:sp>
      <p:sp>
        <p:nvSpPr>
          <p:cNvPr id="9" name="Text 6"/>
          <p:cNvSpPr/>
          <p:nvPr/>
        </p:nvSpPr>
        <p:spPr>
          <a:xfrm>
            <a:off x="6296016" y="876895"/>
            <a:ext cx="2276484" cy="276820"/>
          </a:xfrm>
          <a:prstGeom prst="rect">
            <a:avLst/>
          </a:prstGeom>
          <a:noFill/>
          <a:ln/>
        </p:spPr>
        <p:txBody>
          <a:bodyPr wrap="square" lIns="0" tIns="0" rIns="0" bIns="0" rtlCol="0" anchor="t">
            <a:spAutoFit/>
          </a:bodyPr>
          <a:lstStyle/>
          <a:p>
            <a:pPr marL="0" indent="0" algn="l">
              <a:buNone/>
            </a:pPr>
            <a:r>
              <a:rPr lang="en-US" sz="1700" dirty="0">
                <a:solidFill>
                  <a:srgbClr val="0056B3"/>
                </a:solidFill>
                <a:latin typeface="Inter Medium" pitchFamily="34" charset="0"/>
                <a:ea typeface="Inter Medium" pitchFamily="34" charset="-122"/>
                <a:cs typeface="Inter Medium" pitchFamily="34" charset="-120"/>
              </a:rPr>
              <a:t>6,903</a:t>
            </a:r>
            <a:endParaRPr lang="en-US" sz="1700" dirty="0"/>
          </a:p>
        </p:txBody>
      </p:sp>
      <p:sp>
        <p:nvSpPr>
          <p:cNvPr id="10" name="Text 7"/>
          <p:cNvSpPr/>
          <p:nvPr/>
        </p:nvSpPr>
        <p:spPr>
          <a:xfrm>
            <a:off x="6296016" y="1153716"/>
            <a:ext cx="2276484" cy="137517"/>
          </a:xfrm>
          <a:prstGeom prst="rect">
            <a:avLst/>
          </a:prstGeom>
          <a:noFill/>
          <a:ln/>
        </p:spPr>
        <p:txBody>
          <a:bodyPr wrap="square" lIns="0" tIns="0" rIns="0" bIns="0" rtlCol="0" anchor="t">
            <a:spAutoFit/>
          </a:bodyPr>
          <a:lstStyle/>
          <a:p>
            <a:pPr marL="0" indent="0" algn="l">
              <a:buNone/>
            </a:pPr>
            <a:r>
              <a:rPr lang="en-US" sz="850" dirty="0">
                <a:solidFill>
                  <a:srgbClr val="495057"/>
                </a:solidFill>
                <a:latin typeface="Inter Light" pitchFamily="34" charset="0"/>
                <a:ea typeface="Inter Light" pitchFamily="34" charset="-122"/>
                <a:cs typeface="Inter Light" pitchFamily="34" charset="-120"/>
              </a:rPr>
              <a:t>Labeled Samples (Real/Fake)</a:t>
            </a:r>
            <a:endParaRPr lang="en-US" sz="850" dirty="0"/>
          </a:p>
        </p:txBody>
      </p:sp>
      <p:sp>
        <p:nvSpPr>
          <p:cNvPr id="11" name="Shape 8"/>
          <p:cNvSpPr/>
          <p:nvPr/>
        </p:nvSpPr>
        <p:spPr>
          <a:xfrm>
            <a:off x="6153141" y="1376958"/>
            <a:ext cx="2562234" cy="514350"/>
          </a:xfrm>
          <a:prstGeom prst="rect">
            <a:avLst/>
          </a:prstGeom>
          <a:solidFill>
            <a:srgbClr val="FFFFFF"/>
          </a:solidFill>
          <a:ln/>
        </p:spPr>
        <p:txBody>
          <a:bodyPr/>
          <a:lstStyle/>
          <a:p>
            <a:endParaRPr lang="en-US"/>
          </a:p>
        </p:txBody>
      </p:sp>
      <p:sp>
        <p:nvSpPr>
          <p:cNvPr id="12" name="Shape 9"/>
          <p:cNvSpPr/>
          <p:nvPr/>
        </p:nvSpPr>
        <p:spPr>
          <a:xfrm>
            <a:off x="6153141" y="1376958"/>
            <a:ext cx="2562234" cy="14288"/>
          </a:xfrm>
          <a:prstGeom prst="rect">
            <a:avLst/>
          </a:prstGeom>
          <a:solidFill>
            <a:srgbClr val="0056B3"/>
          </a:solidFill>
          <a:ln/>
        </p:spPr>
        <p:txBody>
          <a:bodyPr/>
          <a:lstStyle/>
          <a:p>
            <a:endParaRPr lang="en-US"/>
          </a:p>
        </p:txBody>
      </p:sp>
      <p:sp>
        <p:nvSpPr>
          <p:cNvPr id="13" name="Text 10"/>
          <p:cNvSpPr/>
          <p:nvPr/>
        </p:nvSpPr>
        <p:spPr>
          <a:xfrm>
            <a:off x="6296016" y="1462683"/>
            <a:ext cx="2276484" cy="276820"/>
          </a:xfrm>
          <a:prstGeom prst="rect">
            <a:avLst/>
          </a:prstGeom>
          <a:noFill/>
          <a:ln/>
        </p:spPr>
        <p:txBody>
          <a:bodyPr wrap="square" lIns="0" tIns="0" rIns="0" bIns="0" rtlCol="0" anchor="t">
            <a:spAutoFit/>
          </a:bodyPr>
          <a:lstStyle/>
          <a:p>
            <a:pPr marL="0" indent="0" algn="l">
              <a:buNone/>
            </a:pPr>
            <a:r>
              <a:rPr lang="en-US" sz="1700" dirty="0">
                <a:solidFill>
                  <a:srgbClr val="0056B3"/>
                </a:solidFill>
                <a:latin typeface="Inter Medium" pitchFamily="34" charset="0"/>
                <a:ea typeface="Inter Medium" pitchFamily="34" charset="-122"/>
                <a:cs typeface="Inter Medium" pitchFamily="34" charset="-120"/>
              </a:rPr>
              <a:t>2.5M</a:t>
            </a:r>
            <a:endParaRPr lang="en-US" sz="1700" dirty="0"/>
          </a:p>
        </p:txBody>
      </p:sp>
      <p:sp>
        <p:nvSpPr>
          <p:cNvPr id="14" name="Text 11"/>
          <p:cNvSpPr/>
          <p:nvPr/>
        </p:nvSpPr>
        <p:spPr>
          <a:xfrm>
            <a:off x="6296016" y="1739503"/>
            <a:ext cx="2276484" cy="137517"/>
          </a:xfrm>
          <a:prstGeom prst="rect">
            <a:avLst/>
          </a:prstGeom>
          <a:noFill/>
          <a:ln/>
        </p:spPr>
        <p:txBody>
          <a:bodyPr wrap="square" lIns="0" tIns="0" rIns="0" bIns="0" rtlCol="0" anchor="t">
            <a:spAutoFit/>
          </a:bodyPr>
          <a:lstStyle/>
          <a:p>
            <a:pPr marL="0" indent="0" algn="l">
              <a:buNone/>
            </a:pPr>
            <a:r>
              <a:rPr lang="en-US" sz="850" dirty="0">
                <a:solidFill>
                  <a:srgbClr val="495057"/>
                </a:solidFill>
                <a:latin typeface="Inter Light" pitchFamily="34" charset="0"/>
                <a:ea typeface="Inter Light" pitchFamily="34" charset="-122"/>
                <a:cs typeface="Inter Light" pitchFamily="34" charset="-120"/>
              </a:rPr>
              <a:t>External Corpus Samples</a:t>
            </a:r>
            <a:endParaRPr lang="en-US" sz="850" dirty="0"/>
          </a:p>
        </p:txBody>
      </p:sp>
      <p:sp>
        <p:nvSpPr>
          <p:cNvPr id="15" name="Shape 12"/>
          <p:cNvSpPr/>
          <p:nvPr/>
        </p:nvSpPr>
        <p:spPr>
          <a:xfrm>
            <a:off x="6153141" y="1962745"/>
            <a:ext cx="2562234" cy="514350"/>
          </a:xfrm>
          <a:prstGeom prst="rect">
            <a:avLst/>
          </a:prstGeom>
          <a:solidFill>
            <a:srgbClr val="FFFFFF"/>
          </a:solidFill>
          <a:ln/>
        </p:spPr>
        <p:txBody>
          <a:bodyPr/>
          <a:lstStyle/>
          <a:p>
            <a:endParaRPr lang="en-US"/>
          </a:p>
        </p:txBody>
      </p:sp>
      <p:sp>
        <p:nvSpPr>
          <p:cNvPr id="16" name="Shape 13"/>
          <p:cNvSpPr/>
          <p:nvPr/>
        </p:nvSpPr>
        <p:spPr>
          <a:xfrm>
            <a:off x="6153141" y="1962745"/>
            <a:ext cx="2562234" cy="14288"/>
          </a:xfrm>
          <a:prstGeom prst="rect">
            <a:avLst/>
          </a:prstGeom>
          <a:solidFill>
            <a:srgbClr val="0056B3"/>
          </a:solidFill>
          <a:ln/>
        </p:spPr>
        <p:txBody>
          <a:bodyPr/>
          <a:lstStyle/>
          <a:p>
            <a:endParaRPr lang="en-US"/>
          </a:p>
        </p:txBody>
      </p:sp>
      <p:sp>
        <p:nvSpPr>
          <p:cNvPr id="17" name="Text 14"/>
          <p:cNvSpPr/>
          <p:nvPr/>
        </p:nvSpPr>
        <p:spPr>
          <a:xfrm>
            <a:off x="6296016" y="2048470"/>
            <a:ext cx="2276484" cy="276820"/>
          </a:xfrm>
          <a:prstGeom prst="rect">
            <a:avLst/>
          </a:prstGeom>
          <a:noFill/>
          <a:ln/>
        </p:spPr>
        <p:txBody>
          <a:bodyPr wrap="square" lIns="0" tIns="0" rIns="0" bIns="0" rtlCol="0" anchor="t">
            <a:spAutoFit/>
          </a:bodyPr>
          <a:lstStyle/>
          <a:p>
            <a:pPr marL="0" indent="0" algn="l">
              <a:buNone/>
            </a:pPr>
            <a:r>
              <a:rPr lang="en-US" sz="1700" dirty="0">
                <a:solidFill>
                  <a:srgbClr val="0056B3"/>
                </a:solidFill>
                <a:latin typeface="Inter Medium" pitchFamily="34" charset="0"/>
                <a:ea typeface="Inter Medium" pitchFamily="34" charset="-122"/>
                <a:cs typeface="Inter Medium" pitchFamily="34" charset="-120"/>
              </a:rPr>
              <a:t>91.2%</a:t>
            </a:r>
            <a:endParaRPr lang="en-US" sz="1700" dirty="0"/>
          </a:p>
        </p:txBody>
      </p:sp>
      <p:sp>
        <p:nvSpPr>
          <p:cNvPr id="18" name="Text 15"/>
          <p:cNvSpPr/>
          <p:nvPr/>
        </p:nvSpPr>
        <p:spPr>
          <a:xfrm>
            <a:off x="6296016" y="2325291"/>
            <a:ext cx="2276484" cy="137517"/>
          </a:xfrm>
          <a:prstGeom prst="rect">
            <a:avLst/>
          </a:prstGeom>
          <a:noFill/>
          <a:ln/>
        </p:spPr>
        <p:txBody>
          <a:bodyPr wrap="square" lIns="0" tIns="0" rIns="0" bIns="0" rtlCol="0" anchor="t">
            <a:spAutoFit/>
          </a:bodyPr>
          <a:lstStyle/>
          <a:p>
            <a:pPr marL="0" indent="0" algn="l">
              <a:buNone/>
            </a:pPr>
            <a:r>
              <a:rPr lang="en-US" sz="850" dirty="0">
                <a:solidFill>
                  <a:srgbClr val="495057"/>
                </a:solidFill>
                <a:latin typeface="Inter Light" pitchFamily="34" charset="0"/>
                <a:ea typeface="Inter Light" pitchFamily="34" charset="-122"/>
                <a:cs typeface="Inter Light" pitchFamily="34" charset="-120"/>
              </a:rPr>
              <a:t>Peak Model Accuracy</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285750"/>
            <a:ext cx="8715375" cy="276820"/>
          </a:xfrm>
          <a:prstGeom prst="rect">
            <a:avLst/>
          </a:prstGeom>
          <a:noFill/>
          <a:ln/>
        </p:spPr>
        <p:txBody>
          <a:bodyPr wrap="square" lIns="0" tIns="0" rIns="0" bIns="0" rtlCol="0" anchor="t">
            <a:spAutoFit/>
          </a:bodyPr>
          <a:lstStyle/>
          <a:p>
            <a:pPr marL="0" indent="0" algn="l">
              <a:buNone/>
            </a:pPr>
            <a:r>
              <a:rPr lang="en-US" sz="1700" dirty="0">
                <a:solidFill>
                  <a:srgbClr val="212529"/>
                </a:solidFill>
                <a:latin typeface="Inter Medium" pitchFamily="34" charset="0"/>
                <a:ea typeface="Inter Medium" pitchFamily="34" charset="-122"/>
                <a:cs typeface="Inter Medium" pitchFamily="34" charset="-120"/>
              </a:rPr>
              <a:t>Introduction</a:t>
            </a:r>
            <a:endParaRPr lang="en-US" sz="1700" dirty="0"/>
          </a:p>
        </p:txBody>
      </p:sp>
      <p:sp>
        <p:nvSpPr>
          <p:cNvPr id="4" name="Shape 1"/>
          <p:cNvSpPr/>
          <p:nvPr/>
        </p:nvSpPr>
        <p:spPr>
          <a:xfrm>
            <a:off x="357188" y="776883"/>
            <a:ext cx="2714625" cy="2678906"/>
          </a:xfrm>
          <a:prstGeom prst="rect">
            <a:avLst/>
          </a:prstGeom>
          <a:solidFill>
            <a:srgbClr val="E9ECEF"/>
          </a:solidFill>
          <a:ln/>
        </p:spPr>
        <p:txBody>
          <a:bodyPr/>
          <a:lstStyle/>
          <a:p>
            <a:endParaRPr lang="en-US"/>
          </a:p>
        </p:txBody>
      </p:sp>
      <p:sp>
        <p:nvSpPr>
          <p:cNvPr id="5" name="Shape 2"/>
          <p:cNvSpPr/>
          <p:nvPr/>
        </p:nvSpPr>
        <p:spPr>
          <a:xfrm>
            <a:off x="357188" y="776883"/>
            <a:ext cx="28575" cy="2678906"/>
          </a:xfrm>
          <a:prstGeom prst="rect">
            <a:avLst/>
          </a:prstGeom>
          <a:solidFill>
            <a:srgbClr val="0056B3"/>
          </a:solidFill>
          <a:ln/>
        </p:spPr>
        <p:txBody>
          <a:bodyPr/>
          <a:lstStyle/>
          <a:p>
            <a:endParaRPr lang="en-US"/>
          </a:p>
        </p:txBody>
      </p:sp>
      <p:sp>
        <p:nvSpPr>
          <p:cNvPr id="6" name="Text 3"/>
          <p:cNvSpPr/>
          <p:nvPr/>
        </p:nvSpPr>
        <p:spPr>
          <a:xfrm>
            <a:off x="464344" y="884039"/>
            <a:ext cx="2481253" cy="207169"/>
          </a:xfrm>
          <a:prstGeom prst="rect">
            <a:avLst/>
          </a:prstGeom>
          <a:noFill/>
          <a:ln/>
        </p:spPr>
        <p:txBody>
          <a:bodyPr wrap="square" lIns="0" tIns="0" rIns="0" bIns="0" rtlCol="0" anchor="t">
            <a:spAutoFit/>
          </a:bodyPr>
          <a:lstStyle/>
          <a:p>
            <a:pPr marL="0" indent="0" algn="l">
              <a:buNone/>
            </a:pPr>
            <a:r>
              <a:rPr lang="en-US" sz="1250" dirty="0">
                <a:solidFill>
                  <a:srgbClr val="0056B3"/>
                </a:solidFill>
                <a:latin typeface="Inter Medium" pitchFamily="34" charset="0"/>
                <a:ea typeface="Inter Medium" pitchFamily="34" charset="-122"/>
                <a:cs typeface="Inter Medium" pitchFamily="34" charset="-120"/>
              </a:rPr>
              <a:t>Problem Statement</a:t>
            </a:r>
            <a:endParaRPr lang="en-US" sz="1250" dirty="0"/>
          </a:p>
        </p:txBody>
      </p:sp>
      <p:sp>
        <p:nvSpPr>
          <p:cNvPr id="7" name="Text 4"/>
          <p:cNvSpPr/>
          <p:nvPr/>
        </p:nvSpPr>
        <p:spPr>
          <a:xfrm>
            <a:off x="464344" y="1176933"/>
            <a:ext cx="2481253" cy="771525"/>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495057"/>
                </a:solidFill>
                <a:latin typeface="Inter Light" pitchFamily="34" charset="0"/>
                <a:ea typeface="Inter Light" pitchFamily="34" charset="-122"/>
                <a:cs typeface="Inter Light" pitchFamily="34" charset="-120"/>
              </a:rPr>
              <a:t>Fake news in Egyptian Arabic poses serious societal and political challenges due to dialectal variations that hinder automated detection.</a:t>
            </a:r>
            <a:endParaRPr lang="en-US" sz="950" dirty="0"/>
          </a:p>
        </p:txBody>
      </p:sp>
      <p:sp>
        <p:nvSpPr>
          <p:cNvPr id="8" name="Shape 5"/>
          <p:cNvSpPr/>
          <p:nvPr/>
        </p:nvSpPr>
        <p:spPr>
          <a:xfrm>
            <a:off x="3195628" y="776883"/>
            <a:ext cx="2724141" cy="2678906"/>
          </a:xfrm>
          <a:prstGeom prst="rect">
            <a:avLst/>
          </a:prstGeom>
          <a:solidFill>
            <a:srgbClr val="E9ECEF"/>
          </a:solidFill>
          <a:ln/>
        </p:spPr>
        <p:txBody>
          <a:bodyPr/>
          <a:lstStyle/>
          <a:p>
            <a:endParaRPr lang="en-US"/>
          </a:p>
        </p:txBody>
      </p:sp>
      <p:sp>
        <p:nvSpPr>
          <p:cNvPr id="9" name="Shape 6"/>
          <p:cNvSpPr/>
          <p:nvPr/>
        </p:nvSpPr>
        <p:spPr>
          <a:xfrm>
            <a:off x="3195628" y="776883"/>
            <a:ext cx="28575" cy="2678906"/>
          </a:xfrm>
          <a:prstGeom prst="rect">
            <a:avLst/>
          </a:prstGeom>
          <a:solidFill>
            <a:srgbClr val="0056B3"/>
          </a:solidFill>
          <a:ln/>
        </p:spPr>
        <p:txBody>
          <a:bodyPr/>
          <a:lstStyle/>
          <a:p>
            <a:endParaRPr lang="en-US"/>
          </a:p>
        </p:txBody>
      </p:sp>
      <p:sp>
        <p:nvSpPr>
          <p:cNvPr id="10" name="Text 7"/>
          <p:cNvSpPr/>
          <p:nvPr/>
        </p:nvSpPr>
        <p:spPr>
          <a:xfrm>
            <a:off x="3312328" y="884039"/>
            <a:ext cx="2490797" cy="207169"/>
          </a:xfrm>
          <a:prstGeom prst="rect">
            <a:avLst/>
          </a:prstGeom>
          <a:noFill/>
          <a:ln/>
        </p:spPr>
        <p:txBody>
          <a:bodyPr wrap="square" lIns="0" tIns="0" rIns="0" bIns="0" rtlCol="0" anchor="t">
            <a:spAutoFit/>
          </a:bodyPr>
          <a:lstStyle/>
          <a:p>
            <a:pPr marL="0" indent="0" algn="l">
              <a:buNone/>
            </a:pPr>
            <a:r>
              <a:rPr lang="en-US" sz="1250" dirty="0">
                <a:solidFill>
                  <a:srgbClr val="0056B3"/>
                </a:solidFill>
                <a:latin typeface="Inter Medium" pitchFamily="34" charset="0"/>
                <a:ea typeface="Inter Medium" pitchFamily="34" charset="-122"/>
                <a:cs typeface="Inter Medium" pitchFamily="34" charset="-120"/>
              </a:rPr>
              <a:t>Objectives</a:t>
            </a:r>
            <a:endParaRPr lang="en-US" sz="1250" dirty="0"/>
          </a:p>
        </p:txBody>
      </p:sp>
      <p:sp>
        <p:nvSpPr>
          <p:cNvPr id="11" name="Text 8"/>
          <p:cNvSpPr/>
          <p:nvPr/>
        </p:nvSpPr>
        <p:spPr>
          <a:xfrm>
            <a:off x="3440916" y="1176933"/>
            <a:ext cx="2362209" cy="385763"/>
          </a:xfrm>
          <a:prstGeom prst="rect">
            <a:avLst/>
          </a:prstGeom>
          <a:noFill/>
          <a:ln/>
        </p:spPr>
        <p:txBody>
          <a:bodyPr wrap="square" lIns="0" tIns="0" rIns="0" bIns="0" rtlCol="0" anchor="t">
            <a:spAutoFit/>
          </a:bodyPr>
          <a:lstStyle/>
          <a:p>
            <a:pPr marL="127000" indent="-127000" algn="l">
              <a:lnSpc>
                <a:spcPct val="120000"/>
              </a:lnSpc>
              <a:buSzPct val="100000"/>
              <a:buChar char="•"/>
            </a:pPr>
            <a:r>
              <a:rPr lang="en-US" sz="950" dirty="0">
                <a:solidFill>
                  <a:srgbClr val="495057"/>
                </a:solidFill>
                <a:latin typeface="Inter Light" pitchFamily="34" charset="0"/>
                <a:ea typeface="Inter Light" pitchFamily="34" charset="-122"/>
                <a:cs typeface="Inter Light" pitchFamily="34" charset="-120"/>
              </a:rPr>
              <a:t>Develop robust NLP models for Egyptian Arabic fake news detection.</a:t>
            </a:r>
            <a:endParaRPr lang="en-US" sz="950" dirty="0"/>
          </a:p>
        </p:txBody>
      </p:sp>
      <p:sp>
        <p:nvSpPr>
          <p:cNvPr id="12" name="Text 9"/>
          <p:cNvSpPr/>
          <p:nvPr/>
        </p:nvSpPr>
        <p:spPr>
          <a:xfrm>
            <a:off x="3440916" y="1619845"/>
            <a:ext cx="2362209" cy="385763"/>
          </a:xfrm>
          <a:prstGeom prst="rect">
            <a:avLst/>
          </a:prstGeom>
          <a:noFill/>
          <a:ln/>
        </p:spPr>
        <p:txBody>
          <a:bodyPr wrap="square" lIns="0" tIns="0" rIns="0" bIns="0" rtlCol="0" anchor="t">
            <a:spAutoFit/>
          </a:bodyPr>
          <a:lstStyle/>
          <a:p>
            <a:pPr marL="127000" indent="-127000" algn="l">
              <a:lnSpc>
                <a:spcPct val="120000"/>
              </a:lnSpc>
              <a:buSzPct val="100000"/>
              <a:buChar char="•"/>
            </a:pPr>
            <a:r>
              <a:rPr lang="en-US" sz="950" dirty="0">
                <a:solidFill>
                  <a:srgbClr val="495057"/>
                </a:solidFill>
                <a:latin typeface="Inter Light" pitchFamily="34" charset="0"/>
                <a:ea typeface="Inter Light" pitchFamily="34" charset="-122"/>
                <a:cs typeface="Inter Light" pitchFamily="34" charset="-120"/>
              </a:rPr>
              <a:t>Compare traditional ML and Deep Learning approaches.</a:t>
            </a:r>
            <a:endParaRPr lang="en-US" sz="950" dirty="0"/>
          </a:p>
        </p:txBody>
      </p:sp>
      <p:sp>
        <p:nvSpPr>
          <p:cNvPr id="13" name="Text 10"/>
          <p:cNvSpPr/>
          <p:nvPr/>
        </p:nvSpPr>
        <p:spPr>
          <a:xfrm>
            <a:off x="3440916" y="2062758"/>
            <a:ext cx="2362209" cy="192881"/>
          </a:xfrm>
          <a:prstGeom prst="rect">
            <a:avLst/>
          </a:prstGeom>
          <a:noFill/>
          <a:ln/>
        </p:spPr>
        <p:txBody>
          <a:bodyPr wrap="none" lIns="0" tIns="0" rIns="0" bIns="0" rtlCol="0" anchor="t">
            <a:spAutoFit/>
          </a:bodyPr>
          <a:lstStyle/>
          <a:p>
            <a:pPr marL="127000" indent="-127000" algn="l">
              <a:lnSpc>
                <a:spcPct val="120000"/>
              </a:lnSpc>
              <a:buSzPct val="100000"/>
              <a:buChar char="•"/>
            </a:pPr>
            <a:r>
              <a:rPr lang="en-US" sz="950" dirty="0">
                <a:solidFill>
                  <a:srgbClr val="495057"/>
                </a:solidFill>
                <a:latin typeface="Inter Light" pitchFamily="34" charset="0"/>
                <a:ea typeface="Inter Light" pitchFamily="34" charset="-122"/>
                <a:cs typeface="Inter Light" pitchFamily="34" charset="-120"/>
              </a:rPr>
              <a:t>Improve model interpretability.</a:t>
            </a:r>
            <a:endParaRPr lang="en-US" sz="950" dirty="0"/>
          </a:p>
        </p:txBody>
      </p:sp>
      <p:sp>
        <p:nvSpPr>
          <p:cNvPr id="14" name="Shape 11"/>
          <p:cNvSpPr/>
          <p:nvPr/>
        </p:nvSpPr>
        <p:spPr>
          <a:xfrm>
            <a:off x="6053156" y="776883"/>
            <a:ext cx="2733684" cy="2678906"/>
          </a:xfrm>
          <a:prstGeom prst="rect">
            <a:avLst/>
          </a:prstGeom>
          <a:solidFill>
            <a:srgbClr val="E9ECEF"/>
          </a:solidFill>
          <a:ln/>
        </p:spPr>
        <p:txBody>
          <a:bodyPr/>
          <a:lstStyle/>
          <a:p>
            <a:endParaRPr lang="en-US"/>
          </a:p>
        </p:txBody>
      </p:sp>
      <p:sp>
        <p:nvSpPr>
          <p:cNvPr id="15" name="Shape 12"/>
          <p:cNvSpPr/>
          <p:nvPr/>
        </p:nvSpPr>
        <p:spPr>
          <a:xfrm>
            <a:off x="6053156" y="776883"/>
            <a:ext cx="28575" cy="2678906"/>
          </a:xfrm>
          <a:prstGeom prst="rect">
            <a:avLst/>
          </a:prstGeom>
          <a:solidFill>
            <a:srgbClr val="0056B3"/>
          </a:solidFill>
          <a:ln/>
        </p:spPr>
        <p:txBody>
          <a:bodyPr/>
          <a:lstStyle/>
          <a:p>
            <a:endParaRPr lang="en-US"/>
          </a:p>
        </p:txBody>
      </p:sp>
      <p:sp>
        <p:nvSpPr>
          <p:cNvPr id="16" name="Text 13"/>
          <p:cNvSpPr/>
          <p:nvPr/>
        </p:nvSpPr>
        <p:spPr>
          <a:xfrm>
            <a:off x="6179344" y="884039"/>
            <a:ext cx="2500313" cy="207169"/>
          </a:xfrm>
          <a:prstGeom prst="rect">
            <a:avLst/>
          </a:prstGeom>
          <a:noFill/>
          <a:ln/>
        </p:spPr>
        <p:txBody>
          <a:bodyPr wrap="square" lIns="0" tIns="0" rIns="0" bIns="0" rtlCol="0" anchor="t">
            <a:spAutoFit/>
          </a:bodyPr>
          <a:lstStyle/>
          <a:p>
            <a:pPr marL="0" indent="0" algn="l">
              <a:buNone/>
            </a:pPr>
            <a:r>
              <a:rPr lang="en-US" sz="1250" dirty="0">
                <a:solidFill>
                  <a:srgbClr val="0056B3"/>
                </a:solidFill>
                <a:latin typeface="Inter Medium" pitchFamily="34" charset="0"/>
                <a:ea typeface="Inter Medium" pitchFamily="34" charset="-122"/>
                <a:cs typeface="Inter Medium" pitchFamily="34" charset="-120"/>
              </a:rPr>
              <a:t>Methodology</a:t>
            </a:r>
            <a:endParaRPr lang="en-US" sz="1250" dirty="0"/>
          </a:p>
        </p:txBody>
      </p:sp>
      <p:sp>
        <p:nvSpPr>
          <p:cNvPr id="17" name="Text 14"/>
          <p:cNvSpPr/>
          <p:nvPr/>
        </p:nvSpPr>
        <p:spPr>
          <a:xfrm>
            <a:off x="6307931" y="1176933"/>
            <a:ext cx="2371725" cy="385763"/>
          </a:xfrm>
          <a:prstGeom prst="rect">
            <a:avLst/>
          </a:prstGeom>
          <a:noFill/>
          <a:ln/>
        </p:spPr>
        <p:txBody>
          <a:bodyPr wrap="square" lIns="0" tIns="0" rIns="0" bIns="0" rtlCol="0" anchor="t">
            <a:spAutoFit/>
          </a:bodyPr>
          <a:lstStyle/>
          <a:p>
            <a:pPr marL="127000" indent="-127000" algn="l">
              <a:lnSpc>
                <a:spcPct val="120000"/>
              </a:lnSpc>
              <a:buSzPct val="100000"/>
              <a:buChar char="•"/>
            </a:pPr>
            <a:r>
              <a:rPr lang="en-US" sz="950" dirty="0">
                <a:solidFill>
                  <a:srgbClr val="495057"/>
                </a:solidFill>
                <a:latin typeface="Inter Light" pitchFamily="34" charset="0"/>
                <a:ea typeface="Inter Light" pitchFamily="34" charset="-122"/>
                <a:cs typeface="Inter Light" pitchFamily="34" charset="-120"/>
              </a:rPr>
              <a:t>Data: Labeled Egyptian tweets + 2.5M external corpus.</a:t>
            </a:r>
            <a:endParaRPr lang="en-US" sz="950" dirty="0"/>
          </a:p>
        </p:txBody>
      </p:sp>
      <p:sp>
        <p:nvSpPr>
          <p:cNvPr id="18" name="Text 15"/>
          <p:cNvSpPr/>
          <p:nvPr/>
        </p:nvSpPr>
        <p:spPr>
          <a:xfrm>
            <a:off x="6307931" y="1619845"/>
            <a:ext cx="2371725" cy="385763"/>
          </a:xfrm>
          <a:prstGeom prst="rect">
            <a:avLst/>
          </a:prstGeom>
          <a:noFill/>
          <a:ln/>
        </p:spPr>
        <p:txBody>
          <a:bodyPr wrap="square" lIns="0" tIns="0" rIns="0" bIns="0" rtlCol="0" anchor="t">
            <a:spAutoFit/>
          </a:bodyPr>
          <a:lstStyle/>
          <a:p>
            <a:pPr marL="127000" indent="-127000" algn="l">
              <a:lnSpc>
                <a:spcPct val="120000"/>
              </a:lnSpc>
              <a:buSzPct val="100000"/>
              <a:buChar char="•"/>
            </a:pPr>
            <a:r>
              <a:rPr lang="en-US" sz="950" dirty="0">
                <a:solidFill>
                  <a:srgbClr val="495057"/>
                </a:solidFill>
                <a:latin typeface="Inter Light" pitchFamily="34" charset="0"/>
                <a:ea typeface="Inter Light" pitchFamily="34" charset="-122"/>
                <a:cs typeface="Inter Light" pitchFamily="34" charset="-120"/>
              </a:rPr>
              <a:t>Features: TF-IDF and custom Word2Vec.</a:t>
            </a:r>
            <a:endParaRPr lang="en-US" sz="950" dirty="0"/>
          </a:p>
        </p:txBody>
      </p:sp>
      <p:sp>
        <p:nvSpPr>
          <p:cNvPr id="19" name="Text 16"/>
          <p:cNvSpPr/>
          <p:nvPr/>
        </p:nvSpPr>
        <p:spPr>
          <a:xfrm>
            <a:off x="6307931" y="2062758"/>
            <a:ext cx="2371725" cy="192881"/>
          </a:xfrm>
          <a:prstGeom prst="rect">
            <a:avLst/>
          </a:prstGeom>
          <a:noFill/>
          <a:ln/>
        </p:spPr>
        <p:txBody>
          <a:bodyPr wrap="none" lIns="0" tIns="0" rIns="0" bIns="0" rtlCol="0" anchor="t">
            <a:spAutoFit/>
          </a:bodyPr>
          <a:lstStyle/>
          <a:p>
            <a:pPr marL="127000" indent="-127000" algn="l">
              <a:lnSpc>
                <a:spcPct val="120000"/>
              </a:lnSpc>
              <a:buSzPct val="100000"/>
              <a:buChar char="•"/>
            </a:pPr>
            <a:r>
              <a:rPr lang="en-US" sz="950" dirty="0">
                <a:solidFill>
                  <a:srgbClr val="495057"/>
                </a:solidFill>
                <a:latin typeface="Inter Light" pitchFamily="34" charset="0"/>
                <a:ea typeface="Inter Light" pitchFamily="34" charset="-122"/>
                <a:cs typeface="Inter Light" pitchFamily="34" charset="-120"/>
              </a:rPr>
              <a:t>Models: XGBoost, AraBERT, BiLSTM.</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000625"/>
          </a:xfrm>
          <a:prstGeom prst="rect">
            <a:avLst/>
          </a:prstGeom>
        </p:spPr>
      </p:pic>
      <p:sp>
        <p:nvSpPr>
          <p:cNvPr id="3" name="Text 0"/>
          <p:cNvSpPr/>
          <p:nvPr/>
        </p:nvSpPr>
        <p:spPr>
          <a:xfrm>
            <a:off x="428625" y="285750"/>
            <a:ext cx="8715375" cy="276820"/>
          </a:xfrm>
          <a:prstGeom prst="rect">
            <a:avLst/>
          </a:prstGeom>
          <a:noFill/>
          <a:ln/>
        </p:spPr>
        <p:txBody>
          <a:bodyPr wrap="square" lIns="0" tIns="0" rIns="0" bIns="0" rtlCol="0" anchor="t">
            <a:spAutoFit/>
          </a:bodyPr>
          <a:lstStyle/>
          <a:p>
            <a:pPr marL="0" indent="0" algn="l">
              <a:buNone/>
            </a:pPr>
            <a:r>
              <a:rPr lang="en-US" sz="1700" dirty="0">
                <a:solidFill>
                  <a:srgbClr val="212529"/>
                </a:solidFill>
                <a:latin typeface="Inter Medium" pitchFamily="34" charset="0"/>
                <a:ea typeface="Inter Medium" pitchFamily="34" charset="-122"/>
                <a:cs typeface="Inter Medium" pitchFamily="34" charset="-120"/>
              </a:rPr>
              <a:t>Dataset and Preprocessing</a:t>
            </a:r>
            <a:endParaRPr lang="en-US" sz="1700" dirty="0"/>
          </a:p>
        </p:txBody>
      </p:sp>
      <p:sp>
        <p:nvSpPr>
          <p:cNvPr id="4" name="Shape 1"/>
          <p:cNvSpPr/>
          <p:nvPr/>
        </p:nvSpPr>
        <p:spPr>
          <a:xfrm>
            <a:off x="285750" y="705445"/>
            <a:ext cx="4597980" cy="1283643"/>
          </a:xfrm>
          <a:prstGeom prst="rect">
            <a:avLst/>
          </a:prstGeom>
          <a:solidFill>
            <a:srgbClr val="E9ECEF"/>
          </a:solidFill>
          <a:ln/>
        </p:spPr>
        <p:txBody>
          <a:bodyPr/>
          <a:lstStyle/>
          <a:p>
            <a:endParaRPr lang="en-US"/>
          </a:p>
        </p:txBody>
      </p:sp>
      <p:sp>
        <p:nvSpPr>
          <p:cNvPr id="5" name="Shape 2"/>
          <p:cNvSpPr/>
          <p:nvPr/>
        </p:nvSpPr>
        <p:spPr>
          <a:xfrm>
            <a:off x="285750" y="705445"/>
            <a:ext cx="28575" cy="1283643"/>
          </a:xfrm>
          <a:prstGeom prst="rect">
            <a:avLst/>
          </a:prstGeom>
          <a:solidFill>
            <a:srgbClr val="0056B3"/>
          </a:solidFill>
          <a:ln/>
        </p:spPr>
        <p:txBody>
          <a:bodyPr/>
          <a:lstStyle/>
          <a:p>
            <a:endParaRPr lang="en-US"/>
          </a:p>
        </p:txBody>
      </p:sp>
      <p:sp>
        <p:nvSpPr>
          <p:cNvPr id="6" name="Text 3"/>
          <p:cNvSpPr/>
          <p:nvPr/>
        </p:nvSpPr>
        <p:spPr>
          <a:xfrm>
            <a:off x="414338" y="791170"/>
            <a:ext cx="4340805" cy="189309"/>
          </a:xfrm>
          <a:prstGeom prst="rect">
            <a:avLst/>
          </a:prstGeom>
          <a:noFill/>
          <a:ln/>
        </p:spPr>
        <p:txBody>
          <a:bodyPr wrap="square" lIns="0" tIns="0" rIns="0" bIns="0" rtlCol="0" anchor="t">
            <a:spAutoFit/>
          </a:bodyPr>
          <a:lstStyle/>
          <a:p>
            <a:pPr marL="0" indent="0" algn="l">
              <a:buNone/>
            </a:pPr>
            <a:r>
              <a:rPr lang="en-US" sz="1150" dirty="0">
                <a:solidFill>
                  <a:srgbClr val="0056B3"/>
                </a:solidFill>
                <a:latin typeface="Inter Medium" pitchFamily="34" charset="0"/>
                <a:ea typeface="Inter Medium" pitchFamily="34" charset="-122"/>
                <a:cs typeface="Inter Medium" pitchFamily="34" charset="-120"/>
              </a:rPr>
              <a:t>Data Source &amp; Cleaning</a:t>
            </a:r>
            <a:endParaRPr lang="en-US" sz="1150" dirty="0"/>
          </a:p>
        </p:txBody>
      </p:sp>
      <p:sp>
        <p:nvSpPr>
          <p:cNvPr id="7" name="Text 4"/>
          <p:cNvSpPr/>
          <p:nvPr/>
        </p:nvSpPr>
        <p:spPr>
          <a:xfrm>
            <a:off x="414338" y="1051917"/>
            <a:ext cx="4340805" cy="169999"/>
          </a:xfrm>
          <a:prstGeom prst="rect">
            <a:avLst/>
          </a:prstGeom>
          <a:noFill/>
          <a:ln/>
        </p:spPr>
        <p:txBody>
          <a:bodyPr wrap="none" lIns="0" tIns="0" rIns="0" bIns="0" rtlCol="0" anchor="t">
            <a:spAutoFit/>
          </a:bodyPr>
          <a:lstStyle/>
          <a:p>
            <a:pPr marL="0" indent="0" algn="l">
              <a:lnSpc>
                <a:spcPct val="112000"/>
              </a:lnSpc>
              <a:buNone/>
            </a:pPr>
            <a:r>
              <a:rPr lang="en-US" sz="900" dirty="0">
                <a:solidFill>
                  <a:srgbClr val="495057"/>
                </a:solidFill>
                <a:latin typeface="Inter Light" pitchFamily="34" charset="0"/>
                <a:ea typeface="Inter Light" pitchFamily="34" charset="-122"/>
                <a:cs typeface="Inter Light" pitchFamily="34" charset="-120"/>
              </a:rPr>
              <a:t>Source: Egypt Fake Tweets Labeled Dataset.</a:t>
            </a:r>
            <a:endParaRPr lang="en-US" sz="900" dirty="0"/>
          </a:p>
        </p:txBody>
      </p:sp>
      <p:sp>
        <p:nvSpPr>
          <p:cNvPr id="8" name="Text 5"/>
          <p:cNvSpPr/>
          <p:nvPr/>
        </p:nvSpPr>
        <p:spPr>
          <a:xfrm>
            <a:off x="414338" y="1279066"/>
            <a:ext cx="4340805" cy="339998"/>
          </a:xfrm>
          <a:prstGeom prst="rect">
            <a:avLst/>
          </a:prstGeom>
          <a:noFill/>
          <a:ln/>
        </p:spPr>
        <p:txBody>
          <a:bodyPr wrap="square" lIns="0" tIns="0" rIns="0" bIns="0" rtlCol="0" anchor="t">
            <a:spAutoFit/>
          </a:bodyPr>
          <a:lstStyle/>
          <a:p>
            <a:pPr marL="0" indent="0" algn="l">
              <a:lnSpc>
                <a:spcPct val="112000"/>
              </a:lnSpc>
              <a:buNone/>
            </a:pPr>
            <a:r>
              <a:rPr lang="en-US" sz="900" dirty="0">
                <a:solidFill>
                  <a:srgbClr val="495057"/>
                </a:solidFill>
                <a:latin typeface="Inter Light" pitchFamily="34" charset="0"/>
                <a:ea typeface="Inter Light" pitchFamily="34" charset="-122"/>
                <a:cs typeface="Inter Light" pitchFamily="34" charset="-120"/>
              </a:rPr>
              <a:t>Label Refinement: Removed "Uncertain" (idk) samples to focus on binary classification (Real vs. Fake).</a:t>
            </a:r>
            <a:endParaRPr lang="en-US" sz="900" dirty="0"/>
          </a:p>
        </p:txBody>
      </p:sp>
      <p:sp>
        <p:nvSpPr>
          <p:cNvPr id="9" name="Text 6"/>
          <p:cNvSpPr/>
          <p:nvPr/>
        </p:nvSpPr>
        <p:spPr>
          <a:xfrm>
            <a:off x="414338" y="1676214"/>
            <a:ext cx="4340805" cy="169999"/>
          </a:xfrm>
          <a:prstGeom prst="rect">
            <a:avLst/>
          </a:prstGeom>
          <a:noFill/>
          <a:ln/>
        </p:spPr>
        <p:txBody>
          <a:bodyPr wrap="none" lIns="0" tIns="0" rIns="0" bIns="0" rtlCol="0" anchor="t">
            <a:spAutoFit/>
          </a:bodyPr>
          <a:lstStyle/>
          <a:p>
            <a:pPr marL="0" indent="0" algn="l">
              <a:lnSpc>
                <a:spcPct val="112000"/>
              </a:lnSpc>
              <a:buNone/>
            </a:pPr>
            <a:r>
              <a:rPr lang="en-US" sz="900" dirty="0">
                <a:solidFill>
                  <a:srgbClr val="495057"/>
                </a:solidFill>
                <a:latin typeface="Inter Light" pitchFamily="34" charset="0"/>
                <a:ea typeface="Inter Light" pitchFamily="34" charset="-122"/>
                <a:cs typeface="Inter Light" pitchFamily="34" charset="-120"/>
              </a:rPr>
              <a:t>Final Count: 6,903 high-quality labeled samples.</a:t>
            </a:r>
            <a:endParaRPr lang="en-US" sz="900" dirty="0"/>
          </a:p>
        </p:txBody>
      </p:sp>
      <p:sp>
        <p:nvSpPr>
          <p:cNvPr id="10" name="Shape 7"/>
          <p:cNvSpPr/>
          <p:nvPr/>
        </p:nvSpPr>
        <p:spPr>
          <a:xfrm>
            <a:off x="285750" y="2074813"/>
            <a:ext cx="4597980" cy="1340793"/>
          </a:xfrm>
          <a:prstGeom prst="rect">
            <a:avLst/>
          </a:prstGeom>
          <a:solidFill>
            <a:srgbClr val="E9ECEF"/>
          </a:solidFill>
          <a:ln/>
        </p:spPr>
        <p:txBody>
          <a:bodyPr/>
          <a:lstStyle/>
          <a:p>
            <a:endParaRPr lang="en-US"/>
          </a:p>
        </p:txBody>
      </p:sp>
      <p:sp>
        <p:nvSpPr>
          <p:cNvPr id="11" name="Shape 8"/>
          <p:cNvSpPr/>
          <p:nvPr/>
        </p:nvSpPr>
        <p:spPr>
          <a:xfrm>
            <a:off x="285750" y="2074813"/>
            <a:ext cx="28575" cy="1340793"/>
          </a:xfrm>
          <a:prstGeom prst="rect">
            <a:avLst/>
          </a:prstGeom>
          <a:solidFill>
            <a:srgbClr val="0056B3"/>
          </a:solidFill>
          <a:ln/>
        </p:spPr>
        <p:txBody>
          <a:bodyPr/>
          <a:lstStyle/>
          <a:p>
            <a:endParaRPr lang="en-US"/>
          </a:p>
        </p:txBody>
      </p:sp>
      <p:sp>
        <p:nvSpPr>
          <p:cNvPr id="12" name="Text 9"/>
          <p:cNvSpPr/>
          <p:nvPr/>
        </p:nvSpPr>
        <p:spPr>
          <a:xfrm>
            <a:off x="414338" y="2160538"/>
            <a:ext cx="4340805" cy="189309"/>
          </a:xfrm>
          <a:prstGeom prst="rect">
            <a:avLst/>
          </a:prstGeom>
          <a:noFill/>
          <a:ln/>
        </p:spPr>
        <p:txBody>
          <a:bodyPr wrap="square" lIns="0" tIns="0" rIns="0" bIns="0" rtlCol="0" anchor="t">
            <a:spAutoFit/>
          </a:bodyPr>
          <a:lstStyle/>
          <a:p>
            <a:pPr marL="0" indent="0" algn="l">
              <a:buNone/>
            </a:pPr>
            <a:r>
              <a:rPr lang="en-US" sz="1150" dirty="0">
                <a:solidFill>
                  <a:srgbClr val="0056B3"/>
                </a:solidFill>
                <a:latin typeface="Inter Medium" pitchFamily="34" charset="0"/>
                <a:ea typeface="Inter Medium" pitchFamily="34" charset="-122"/>
                <a:cs typeface="Inter Medium" pitchFamily="34" charset="-120"/>
              </a:rPr>
              <a:t>Arabic Text Preprocessing</a:t>
            </a:r>
            <a:endParaRPr lang="en-US" sz="1150" dirty="0"/>
          </a:p>
        </p:txBody>
      </p:sp>
      <p:sp>
        <p:nvSpPr>
          <p:cNvPr id="13" name="Text 10"/>
          <p:cNvSpPr/>
          <p:nvPr/>
        </p:nvSpPr>
        <p:spPr>
          <a:xfrm>
            <a:off x="542925" y="2421285"/>
            <a:ext cx="4212217" cy="169999"/>
          </a:xfrm>
          <a:prstGeom prst="rect">
            <a:avLst/>
          </a:prstGeom>
          <a:noFill/>
          <a:ln/>
        </p:spPr>
        <p:txBody>
          <a:bodyPr wrap="none" lIns="0" tIns="0" rIns="0" bIns="0" rtlCol="0" anchor="t">
            <a:spAutoFit/>
          </a:bodyPr>
          <a:lstStyle/>
          <a:p>
            <a:pPr marL="127000" indent="-127000" algn="l">
              <a:lnSpc>
                <a:spcPct val="112000"/>
              </a:lnSpc>
              <a:buSzPct val="100000"/>
              <a:buChar char="•"/>
            </a:pPr>
            <a:r>
              <a:rPr lang="en-US" sz="900" dirty="0">
                <a:solidFill>
                  <a:srgbClr val="495057"/>
                </a:solidFill>
                <a:latin typeface="Inter Light" pitchFamily="34" charset="0"/>
                <a:ea typeface="Inter Light" pitchFamily="34" charset="-122"/>
                <a:cs typeface="Inter Light" pitchFamily="34" charset="-120"/>
              </a:rPr>
              <a:t>Normalization of Arabic characters (e.g., Alef, Ya, Ta Marbuta).</a:t>
            </a:r>
            <a:endParaRPr lang="en-US" sz="900" dirty="0"/>
          </a:p>
        </p:txBody>
      </p:sp>
      <p:sp>
        <p:nvSpPr>
          <p:cNvPr id="14" name="Text 11"/>
          <p:cNvSpPr/>
          <p:nvPr/>
        </p:nvSpPr>
        <p:spPr>
          <a:xfrm>
            <a:off x="542925" y="2648434"/>
            <a:ext cx="4212217" cy="169999"/>
          </a:xfrm>
          <a:prstGeom prst="rect">
            <a:avLst/>
          </a:prstGeom>
          <a:noFill/>
          <a:ln/>
        </p:spPr>
        <p:txBody>
          <a:bodyPr wrap="none" lIns="0" tIns="0" rIns="0" bIns="0" rtlCol="0" anchor="t">
            <a:spAutoFit/>
          </a:bodyPr>
          <a:lstStyle/>
          <a:p>
            <a:pPr marL="127000" indent="-127000" algn="l">
              <a:lnSpc>
                <a:spcPct val="112000"/>
              </a:lnSpc>
              <a:buSzPct val="100000"/>
              <a:buChar char="•"/>
            </a:pPr>
            <a:r>
              <a:rPr lang="en-US" sz="900" dirty="0">
                <a:solidFill>
                  <a:srgbClr val="495057"/>
                </a:solidFill>
                <a:latin typeface="Inter Light" pitchFamily="34" charset="0"/>
                <a:ea typeface="Inter Light" pitchFamily="34" charset="-122"/>
                <a:cs typeface="Inter Light" pitchFamily="34" charset="-120"/>
              </a:rPr>
              <a:t>Removal of Tashkeel (diacritics), punctuation, and numbers.</a:t>
            </a:r>
            <a:endParaRPr lang="en-US" sz="900" dirty="0"/>
          </a:p>
        </p:txBody>
      </p:sp>
      <p:sp>
        <p:nvSpPr>
          <p:cNvPr id="15" name="Text 12"/>
          <p:cNvSpPr/>
          <p:nvPr/>
        </p:nvSpPr>
        <p:spPr>
          <a:xfrm>
            <a:off x="542925" y="2875583"/>
            <a:ext cx="4212217" cy="169999"/>
          </a:xfrm>
          <a:prstGeom prst="rect">
            <a:avLst/>
          </a:prstGeom>
          <a:noFill/>
          <a:ln/>
        </p:spPr>
        <p:txBody>
          <a:bodyPr wrap="none" lIns="0" tIns="0" rIns="0" bIns="0" rtlCol="0" anchor="t">
            <a:spAutoFit/>
          </a:bodyPr>
          <a:lstStyle/>
          <a:p>
            <a:pPr marL="127000" indent="-127000" algn="l">
              <a:lnSpc>
                <a:spcPct val="112000"/>
              </a:lnSpc>
              <a:buSzPct val="100000"/>
              <a:buChar char="•"/>
            </a:pPr>
            <a:r>
              <a:rPr lang="en-US" sz="900" dirty="0">
                <a:solidFill>
                  <a:srgbClr val="495057"/>
                </a:solidFill>
                <a:latin typeface="Inter Light" pitchFamily="34" charset="0"/>
                <a:ea typeface="Inter Light" pitchFamily="34" charset="-122"/>
                <a:cs typeface="Inter Light" pitchFamily="34" charset="-120"/>
              </a:rPr>
              <a:t>Elimination of URLs, user mentions, and hashtag symbols.</a:t>
            </a:r>
            <a:endParaRPr lang="en-US" sz="900" dirty="0"/>
          </a:p>
        </p:txBody>
      </p:sp>
      <p:sp>
        <p:nvSpPr>
          <p:cNvPr id="16" name="Text 13"/>
          <p:cNvSpPr/>
          <p:nvPr/>
        </p:nvSpPr>
        <p:spPr>
          <a:xfrm>
            <a:off x="542925" y="3102732"/>
            <a:ext cx="4212217" cy="169999"/>
          </a:xfrm>
          <a:prstGeom prst="rect">
            <a:avLst/>
          </a:prstGeom>
          <a:noFill/>
          <a:ln/>
        </p:spPr>
        <p:txBody>
          <a:bodyPr wrap="none" lIns="0" tIns="0" rIns="0" bIns="0" rtlCol="0" anchor="t">
            <a:spAutoFit/>
          </a:bodyPr>
          <a:lstStyle/>
          <a:p>
            <a:pPr marL="127000" indent="-127000" algn="l">
              <a:lnSpc>
                <a:spcPct val="112000"/>
              </a:lnSpc>
              <a:buSzPct val="100000"/>
              <a:buChar char="•"/>
            </a:pPr>
            <a:r>
              <a:rPr lang="en-US" sz="900" dirty="0">
                <a:solidFill>
                  <a:srgbClr val="495057"/>
                </a:solidFill>
                <a:latin typeface="Inter Light" pitchFamily="34" charset="0"/>
                <a:ea typeface="Inter Light" pitchFamily="34" charset="-122"/>
                <a:cs typeface="Inter Light" pitchFamily="34" charset="-120"/>
              </a:rPr>
              <a:t>Custom stopword removal tailored for Egyptian dialect.</a:t>
            </a:r>
            <a:endParaRPr lang="en-US" sz="900" dirty="0"/>
          </a:p>
        </p:txBody>
      </p:sp>
      <p:sp>
        <p:nvSpPr>
          <p:cNvPr id="17" name="Shape 14"/>
          <p:cNvSpPr/>
          <p:nvPr/>
        </p:nvSpPr>
        <p:spPr>
          <a:xfrm>
            <a:off x="5356501" y="705445"/>
            <a:ext cx="3171825" cy="2243138"/>
          </a:xfrm>
          <a:prstGeom prst="rect">
            <a:avLst/>
          </a:prstGeom>
          <a:solidFill>
            <a:srgbClr val="FFFFFF"/>
          </a:solidFill>
          <a:ln/>
        </p:spPr>
        <p:txBody>
          <a:bodyPr/>
          <a:lstStyle/>
          <a:p>
            <a:endParaRPr lang="en-US"/>
          </a:p>
        </p:txBody>
      </p:sp>
      <p:sp>
        <p:nvSpPr>
          <p:cNvPr id="18" name="Shape 15"/>
          <p:cNvSpPr/>
          <p:nvPr/>
        </p:nvSpPr>
        <p:spPr>
          <a:xfrm>
            <a:off x="5356501" y="705445"/>
            <a:ext cx="3171825" cy="14288"/>
          </a:xfrm>
          <a:prstGeom prst="rect">
            <a:avLst/>
          </a:prstGeom>
          <a:solidFill>
            <a:srgbClr val="0056B3"/>
          </a:solidFill>
          <a:ln/>
        </p:spPr>
        <p:txBody>
          <a:bodyPr/>
          <a:lstStyle/>
          <a:p>
            <a:endParaRPr lang="en-US"/>
          </a:p>
        </p:txBody>
      </p:sp>
      <p:pic>
        <p:nvPicPr>
          <p:cNvPr id="19" name="Image 1" descr="preencoded.png"/>
          <p:cNvPicPr>
            <a:picLocks noChangeAspect="1"/>
          </p:cNvPicPr>
          <p:nvPr/>
        </p:nvPicPr>
        <p:blipFill>
          <a:blip r:embed="rId4"/>
          <a:stretch>
            <a:fillRect/>
          </a:stretch>
        </p:blipFill>
        <p:spPr>
          <a:xfrm>
            <a:off x="5585101" y="934045"/>
            <a:ext cx="2714625" cy="1857375"/>
          </a:xfrm>
          <a:prstGeom prst="rect">
            <a:avLst/>
          </a:prstGeom>
        </p:spPr>
      </p:pic>
      <p:sp>
        <p:nvSpPr>
          <p:cNvPr id="20" name="Text 16"/>
          <p:cNvSpPr/>
          <p:nvPr/>
        </p:nvSpPr>
        <p:spPr>
          <a:xfrm>
            <a:off x="5166299" y="2991445"/>
            <a:ext cx="3552230" cy="140001"/>
          </a:xfrm>
          <a:prstGeom prst="rect">
            <a:avLst/>
          </a:prstGeom>
          <a:noFill/>
          <a:ln/>
        </p:spPr>
        <p:txBody>
          <a:bodyPr wrap="none" lIns="0" tIns="0" rIns="0" bIns="0" rtlCol="0" anchor="t">
            <a:spAutoFit/>
          </a:bodyPr>
          <a:lstStyle/>
          <a:p>
            <a:pPr marL="0" indent="0" algn="ctr">
              <a:lnSpc>
                <a:spcPct val="112000"/>
              </a:lnSpc>
              <a:buNone/>
            </a:pPr>
            <a:r>
              <a:rPr lang="en-US" sz="750" dirty="0">
                <a:solidFill>
                  <a:srgbClr val="495057"/>
                </a:solidFill>
                <a:latin typeface="Inter Light" pitchFamily="34" charset="0"/>
                <a:ea typeface="Inter Light" pitchFamily="34" charset="-122"/>
                <a:cs typeface="Inter Light" pitchFamily="34" charset="-120"/>
              </a:rPr>
              <a:t>Figure 1: Class distribution showing data imbalance (Real: 5,286, Fake: 1,617)</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285750"/>
            <a:ext cx="8715375" cy="276820"/>
          </a:xfrm>
          <a:prstGeom prst="rect">
            <a:avLst/>
          </a:prstGeom>
          <a:noFill/>
          <a:ln/>
        </p:spPr>
        <p:txBody>
          <a:bodyPr wrap="square" lIns="0" tIns="0" rIns="0" bIns="0" rtlCol="0" anchor="t">
            <a:spAutoFit/>
          </a:bodyPr>
          <a:lstStyle/>
          <a:p>
            <a:pPr marL="0" indent="0" algn="l">
              <a:buNone/>
            </a:pPr>
            <a:r>
              <a:rPr lang="en-US" sz="1700" dirty="0">
                <a:solidFill>
                  <a:srgbClr val="212529"/>
                </a:solidFill>
                <a:latin typeface="Inter Medium" pitchFamily="34" charset="0"/>
                <a:ea typeface="Inter Medium" pitchFamily="34" charset="-122"/>
                <a:cs typeface="Inter Medium" pitchFamily="34" charset="-120"/>
              </a:rPr>
              <a:t>Feature Extraction and Visualization</a:t>
            </a:r>
            <a:endParaRPr lang="en-US" sz="1700" dirty="0"/>
          </a:p>
        </p:txBody>
      </p:sp>
      <p:sp>
        <p:nvSpPr>
          <p:cNvPr id="4" name="Shape 1"/>
          <p:cNvSpPr/>
          <p:nvPr/>
        </p:nvSpPr>
        <p:spPr>
          <a:xfrm>
            <a:off x="428625" y="791170"/>
            <a:ext cx="3986213" cy="1225153"/>
          </a:xfrm>
          <a:prstGeom prst="rect">
            <a:avLst/>
          </a:prstGeom>
          <a:solidFill>
            <a:srgbClr val="E9ECEF"/>
          </a:solidFill>
          <a:ln/>
        </p:spPr>
        <p:txBody>
          <a:bodyPr/>
          <a:lstStyle/>
          <a:p>
            <a:endParaRPr lang="en-US"/>
          </a:p>
        </p:txBody>
      </p:sp>
      <p:sp>
        <p:nvSpPr>
          <p:cNvPr id="5" name="Shape 2"/>
          <p:cNvSpPr/>
          <p:nvPr/>
        </p:nvSpPr>
        <p:spPr>
          <a:xfrm>
            <a:off x="428625" y="791170"/>
            <a:ext cx="28575" cy="1225153"/>
          </a:xfrm>
          <a:prstGeom prst="rect">
            <a:avLst/>
          </a:prstGeom>
          <a:solidFill>
            <a:srgbClr val="0056B3"/>
          </a:solidFill>
          <a:ln/>
        </p:spPr>
        <p:txBody>
          <a:bodyPr/>
          <a:lstStyle/>
          <a:p>
            <a:endParaRPr lang="en-US"/>
          </a:p>
        </p:txBody>
      </p:sp>
      <p:sp>
        <p:nvSpPr>
          <p:cNvPr id="6" name="Text 3"/>
          <p:cNvSpPr/>
          <p:nvPr/>
        </p:nvSpPr>
        <p:spPr>
          <a:xfrm>
            <a:off x="571500" y="1034058"/>
            <a:ext cx="3700463" cy="189309"/>
          </a:xfrm>
          <a:prstGeom prst="rect">
            <a:avLst/>
          </a:prstGeom>
          <a:noFill/>
          <a:ln/>
        </p:spPr>
        <p:txBody>
          <a:bodyPr wrap="square" lIns="0" tIns="0" rIns="0" bIns="0" rtlCol="0" anchor="t">
            <a:spAutoFit/>
          </a:bodyPr>
          <a:lstStyle/>
          <a:p>
            <a:pPr marL="0" indent="0" algn="l">
              <a:buNone/>
            </a:pPr>
            <a:r>
              <a:rPr lang="en-US" sz="1150" dirty="0">
                <a:solidFill>
                  <a:srgbClr val="0056B3"/>
                </a:solidFill>
                <a:latin typeface="Inter Medium" pitchFamily="34" charset="0"/>
                <a:ea typeface="Inter Medium" pitchFamily="34" charset="-122"/>
                <a:cs typeface="Inter Medium" pitchFamily="34" charset="-120"/>
              </a:rPr>
              <a:t>TF-IDF Vectorization</a:t>
            </a:r>
            <a:endParaRPr lang="en-US" sz="1150" dirty="0"/>
          </a:p>
        </p:txBody>
      </p:sp>
      <p:sp>
        <p:nvSpPr>
          <p:cNvPr id="7" name="Text 4"/>
          <p:cNvSpPr/>
          <p:nvPr/>
        </p:nvSpPr>
        <p:spPr>
          <a:xfrm>
            <a:off x="571500" y="1351955"/>
            <a:ext cx="3700463" cy="578644"/>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495057"/>
                </a:solidFill>
                <a:latin typeface="Inter Light" pitchFamily="34" charset="0"/>
                <a:ea typeface="Inter Light" pitchFamily="34" charset="-122"/>
                <a:cs typeface="Inter Light" pitchFamily="34" charset="-120"/>
              </a:rPr>
              <a:t>Statistical measure evaluating word importance in a document relative to a corpus. Used for XGBoost and AraBERT baselines.</a:t>
            </a:r>
            <a:endParaRPr lang="en-US" sz="950" dirty="0"/>
          </a:p>
        </p:txBody>
      </p:sp>
      <p:sp>
        <p:nvSpPr>
          <p:cNvPr id="8" name="Shape 5"/>
          <p:cNvSpPr/>
          <p:nvPr/>
        </p:nvSpPr>
        <p:spPr>
          <a:xfrm>
            <a:off x="428625" y="2130623"/>
            <a:ext cx="3986213" cy="1032272"/>
          </a:xfrm>
          <a:prstGeom prst="rect">
            <a:avLst/>
          </a:prstGeom>
          <a:solidFill>
            <a:srgbClr val="E9ECEF"/>
          </a:solidFill>
          <a:ln/>
        </p:spPr>
        <p:txBody>
          <a:bodyPr/>
          <a:lstStyle/>
          <a:p>
            <a:endParaRPr lang="en-US"/>
          </a:p>
        </p:txBody>
      </p:sp>
      <p:sp>
        <p:nvSpPr>
          <p:cNvPr id="9" name="Shape 6"/>
          <p:cNvSpPr/>
          <p:nvPr/>
        </p:nvSpPr>
        <p:spPr>
          <a:xfrm>
            <a:off x="428625" y="2130623"/>
            <a:ext cx="28575" cy="1032272"/>
          </a:xfrm>
          <a:prstGeom prst="rect">
            <a:avLst/>
          </a:prstGeom>
          <a:solidFill>
            <a:srgbClr val="0056B3"/>
          </a:solidFill>
          <a:ln/>
        </p:spPr>
        <p:txBody>
          <a:bodyPr/>
          <a:lstStyle/>
          <a:p>
            <a:endParaRPr lang="en-US"/>
          </a:p>
        </p:txBody>
      </p:sp>
      <p:sp>
        <p:nvSpPr>
          <p:cNvPr id="10" name="Text 7"/>
          <p:cNvSpPr/>
          <p:nvPr/>
        </p:nvSpPr>
        <p:spPr>
          <a:xfrm>
            <a:off x="571500" y="2373511"/>
            <a:ext cx="3700463" cy="189309"/>
          </a:xfrm>
          <a:prstGeom prst="rect">
            <a:avLst/>
          </a:prstGeom>
          <a:noFill/>
          <a:ln/>
        </p:spPr>
        <p:txBody>
          <a:bodyPr wrap="square" lIns="0" tIns="0" rIns="0" bIns="0" rtlCol="0" anchor="t">
            <a:spAutoFit/>
          </a:bodyPr>
          <a:lstStyle/>
          <a:p>
            <a:pPr marL="0" indent="0" algn="l">
              <a:buNone/>
            </a:pPr>
            <a:r>
              <a:rPr lang="en-US" sz="1150" dirty="0">
                <a:solidFill>
                  <a:srgbClr val="0056B3"/>
                </a:solidFill>
                <a:latin typeface="Inter Medium" pitchFamily="34" charset="0"/>
                <a:ea typeface="Inter Medium" pitchFamily="34" charset="-122"/>
                <a:cs typeface="Inter Medium" pitchFamily="34" charset="-120"/>
              </a:rPr>
              <a:t>Custom Word2Vec</a:t>
            </a:r>
            <a:endParaRPr lang="en-US" sz="1150" dirty="0"/>
          </a:p>
        </p:txBody>
      </p:sp>
      <p:sp>
        <p:nvSpPr>
          <p:cNvPr id="11" name="Text 8"/>
          <p:cNvSpPr/>
          <p:nvPr/>
        </p:nvSpPr>
        <p:spPr>
          <a:xfrm>
            <a:off x="571500" y="2691408"/>
            <a:ext cx="3700463" cy="385763"/>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495057"/>
                </a:solidFill>
                <a:latin typeface="Inter Light" pitchFamily="34" charset="0"/>
                <a:ea typeface="Inter Light" pitchFamily="34" charset="-122"/>
                <a:cs typeface="Inter Light" pitchFamily="34" charset="-120"/>
              </a:rPr>
              <a:t>Trained on 2.5M Egyptian Arabic samples to capture dialect-specific semantic relationships and nuances.</a:t>
            </a:r>
            <a:endParaRPr lang="en-US" sz="950" dirty="0"/>
          </a:p>
        </p:txBody>
      </p:sp>
      <p:sp>
        <p:nvSpPr>
          <p:cNvPr id="12" name="Shape 9"/>
          <p:cNvSpPr/>
          <p:nvPr/>
        </p:nvSpPr>
        <p:spPr>
          <a:xfrm>
            <a:off x="428625" y="3277195"/>
            <a:ext cx="3986213" cy="1225153"/>
          </a:xfrm>
          <a:prstGeom prst="rect">
            <a:avLst/>
          </a:prstGeom>
          <a:solidFill>
            <a:srgbClr val="E9ECEF"/>
          </a:solidFill>
          <a:ln/>
        </p:spPr>
        <p:txBody>
          <a:bodyPr/>
          <a:lstStyle/>
          <a:p>
            <a:endParaRPr lang="en-US"/>
          </a:p>
        </p:txBody>
      </p:sp>
      <p:sp>
        <p:nvSpPr>
          <p:cNvPr id="13" name="Shape 10"/>
          <p:cNvSpPr/>
          <p:nvPr/>
        </p:nvSpPr>
        <p:spPr>
          <a:xfrm>
            <a:off x="428625" y="3277195"/>
            <a:ext cx="28575" cy="1225153"/>
          </a:xfrm>
          <a:prstGeom prst="rect">
            <a:avLst/>
          </a:prstGeom>
          <a:solidFill>
            <a:srgbClr val="0056B3"/>
          </a:solidFill>
          <a:ln/>
        </p:spPr>
        <p:txBody>
          <a:bodyPr/>
          <a:lstStyle/>
          <a:p>
            <a:endParaRPr lang="en-US"/>
          </a:p>
        </p:txBody>
      </p:sp>
      <p:sp>
        <p:nvSpPr>
          <p:cNvPr id="14" name="Text 11"/>
          <p:cNvSpPr/>
          <p:nvPr/>
        </p:nvSpPr>
        <p:spPr>
          <a:xfrm>
            <a:off x="571500" y="3520083"/>
            <a:ext cx="3700463" cy="189309"/>
          </a:xfrm>
          <a:prstGeom prst="rect">
            <a:avLst/>
          </a:prstGeom>
          <a:noFill/>
          <a:ln/>
        </p:spPr>
        <p:txBody>
          <a:bodyPr wrap="square" lIns="0" tIns="0" rIns="0" bIns="0" rtlCol="0" anchor="t">
            <a:spAutoFit/>
          </a:bodyPr>
          <a:lstStyle/>
          <a:p>
            <a:pPr marL="0" indent="0" algn="l">
              <a:buNone/>
            </a:pPr>
            <a:r>
              <a:rPr lang="en-US" sz="1150" dirty="0">
                <a:solidFill>
                  <a:srgbClr val="0056B3"/>
                </a:solidFill>
                <a:latin typeface="Inter Medium" pitchFamily="34" charset="0"/>
                <a:ea typeface="Inter Medium" pitchFamily="34" charset="-122"/>
                <a:cs typeface="Inter Medium" pitchFamily="34" charset="-120"/>
              </a:rPr>
              <a:t>Dimensionality Reduction</a:t>
            </a:r>
            <a:endParaRPr lang="en-US" sz="1150" dirty="0"/>
          </a:p>
        </p:txBody>
      </p:sp>
      <p:sp>
        <p:nvSpPr>
          <p:cNvPr id="15" name="Text 12"/>
          <p:cNvSpPr/>
          <p:nvPr/>
        </p:nvSpPr>
        <p:spPr>
          <a:xfrm>
            <a:off x="571500" y="3837980"/>
            <a:ext cx="3700463" cy="578644"/>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495057"/>
                </a:solidFill>
                <a:latin typeface="Inter Light" pitchFamily="34" charset="0"/>
                <a:ea typeface="Inter Light" pitchFamily="34" charset="-122"/>
                <a:cs typeface="Inter Light" pitchFamily="34" charset="-120"/>
              </a:rPr>
              <a:t>PCA: Linear reduction to 2D for global variance visualization.
t-SNE: Non-linear mapping to reveal local clusters in high-dimensional space.</a:t>
            </a:r>
            <a:endParaRPr lang="en-US" sz="950" dirty="0"/>
          </a:p>
        </p:txBody>
      </p:sp>
      <p:sp>
        <p:nvSpPr>
          <p:cNvPr id="16" name="Shape 13"/>
          <p:cNvSpPr/>
          <p:nvPr/>
        </p:nvSpPr>
        <p:spPr>
          <a:xfrm>
            <a:off x="4700588" y="791170"/>
            <a:ext cx="4014788" cy="3711178"/>
          </a:xfrm>
          <a:prstGeom prst="rect">
            <a:avLst/>
          </a:prstGeom>
          <a:solidFill>
            <a:srgbClr val="E9ECEF"/>
          </a:solidFill>
          <a:ln/>
        </p:spPr>
        <p:txBody>
          <a:bodyPr/>
          <a:lstStyle/>
          <a:p>
            <a:endParaRPr lang="en-US"/>
          </a:p>
        </p:txBody>
      </p:sp>
      <p:sp>
        <p:nvSpPr>
          <p:cNvPr id="17" name="Shape 14"/>
          <p:cNvSpPr/>
          <p:nvPr/>
        </p:nvSpPr>
        <p:spPr>
          <a:xfrm>
            <a:off x="4700588" y="791170"/>
            <a:ext cx="28575" cy="3711178"/>
          </a:xfrm>
          <a:prstGeom prst="rect">
            <a:avLst/>
          </a:prstGeom>
          <a:solidFill>
            <a:srgbClr val="0056B3"/>
          </a:solidFill>
          <a:ln/>
        </p:spPr>
        <p:txBody>
          <a:bodyPr/>
          <a:lstStyle/>
          <a:p>
            <a:endParaRPr lang="en-US"/>
          </a:p>
        </p:txBody>
      </p:sp>
      <p:pic>
        <p:nvPicPr>
          <p:cNvPr id="18" name="Image 1" descr="preencoded.png"/>
          <p:cNvPicPr>
            <a:picLocks noChangeAspect="1"/>
          </p:cNvPicPr>
          <p:nvPr/>
        </p:nvPicPr>
        <p:blipFill>
          <a:blip r:embed="rId4"/>
          <a:stretch>
            <a:fillRect/>
          </a:stretch>
        </p:blipFill>
        <p:spPr>
          <a:xfrm>
            <a:off x="5000625" y="1484114"/>
            <a:ext cx="3429000" cy="2143125"/>
          </a:xfrm>
          <a:prstGeom prst="rect">
            <a:avLst/>
          </a:prstGeom>
        </p:spPr>
      </p:pic>
      <p:sp>
        <p:nvSpPr>
          <p:cNvPr id="19" name="Text 15"/>
          <p:cNvSpPr/>
          <p:nvPr/>
        </p:nvSpPr>
        <p:spPr>
          <a:xfrm>
            <a:off x="5000625" y="3654028"/>
            <a:ext cx="3429000" cy="241102"/>
          </a:xfrm>
          <a:prstGeom prst="rect">
            <a:avLst/>
          </a:prstGeom>
          <a:noFill/>
          <a:ln/>
        </p:spPr>
        <p:txBody>
          <a:bodyPr wrap="square" lIns="0" tIns="102108" rIns="0" bIns="0" rtlCol="0" anchor="t">
            <a:spAutoFit/>
          </a:bodyPr>
          <a:lstStyle/>
          <a:p>
            <a:pPr marL="0" indent="0" algn="ctr">
              <a:buNone/>
            </a:pPr>
            <a:r>
              <a:rPr lang="en-US" sz="950" dirty="0">
                <a:solidFill>
                  <a:srgbClr val="212529"/>
                </a:solidFill>
                <a:latin typeface="Inter Medium" pitchFamily="34" charset="0"/>
                <a:ea typeface="Inter Medium" pitchFamily="34" charset="-122"/>
                <a:cs typeface="Inter Medium" pitchFamily="34" charset="-120"/>
              </a:rPr>
              <a:t>Latent Space Representation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285750"/>
            <a:ext cx="8715375" cy="276820"/>
          </a:xfrm>
          <a:prstGeom prst="rect">
            <a:avLst/>
          </a:prstGeom>
          <a:noFill/>
          <a:ln/>
        </p:spPr>
        <p:txBody>
          <a:bodyPr wrap="square" lIns="0" tIns="0" rIns="0" bIns="0" rtlCol="0" anchor="t">
            <a:spAutoFit/>
          </a:bodyPr>
          <a:lstStyle/>
          <a:p>
            <a:pPr marL="0" indent="0" algn="l">
              <a:buNone/>
            </a:pPr>
            <a:r>
              <a:rPr lang="en-US" sz="1700" dirty="0">
                <a:solidFill>
                  <a:srgbClr val="212529"/>
                </a:solidFill>
                <a:latin typeface="Inter Medium" pitchFamily="34" charset="0"/>
                <a:ea typeface="Inter Medium" pitchFamily="34" charset="-122"/>
                <a:cs typeface="Inter Medium" pitchFamily="34" charset="-120"/>
              </a:rPr>
              <a:t>Model Comparison: XGBoost vs. AraBERT</a:t>
            </a:r>
            <a:endParaRPr lang="en-US" sz="1700" dirty="0"/>
          </a:p>
        </p:txBody>
      </p:sp>
      <p:sp>
        <p:nvSpPr>
          <p:cNvPr id="4" name="Shape 1"/>
          <p:cNvSpPr/>
          <p:nvPr/>
        </p:nvSpPr>
        <p:spPr>
          <a:xfrm>
            <a:off x="285750" y="705445"/>
            <a:ext cx="4179094" cy="4438055"/>
          </a:xfrm>
          <a:prstGeom prst="rect">
            <a:avLst/>
          </a:prstGeom>
          <a:solidFill>
            <a:srgbClr val="E9ECEF"/>
          </a:solidFill>
          <a:ln/>
        </p:spPr>
        <p:txBody>
          <a:bodyPr/>
          <a:lstStyle/>
          <a:p>
            <a:endParaRPr lang="en-US"/>
          </a:p>
        </p:txBody>
      </p:sp>
      <p:sp>
        <p:nvSpPr>
          <p:cNvPr id="5" name="Shape 2"/>
          <p:cNvSpPr/>
          <p:nvPr/>
        </p:nvSpPr>
        <p:spPr>
          <a:xfrm>
            <a:off x="285750" y="705445"/>
            <a:ext cx="28575" cy="4438055"/>
          </a:xfrm>
          <a:prstGeom prst="rect">
            <a:avLst/>
          </a:prstGeom>
          <a:solidFill>
            <a:srgbClr val="0056B3"/>
          </a:solidFill>
          <a:ln/>
        </p:spPr>
        <p:txBody>
          <a:bodyPr/>
          <a:lstStyle/>
          <a:p>
            <a:endParaRPr lang="en-US"/>
          </a:p>
        </p:txBody>
      </p:sp>
      <p:sp>
        <p:nvSpPr>
          <p:cNvPr id="6" name="Text 3"/>
          <p:cNvSpPr/>
          <p:nvPr/>
        </p:nvSpPr>
        <p:spPr>
          <a:xfrm>
            <a:off x="428625" y="1005483"/>
            <a:ext cx="3879056" cy="207169"/>
          </a:xfrm>
          <a:prstGeom prst="rect">
            <a:avLst/>
          </a:prstGeom>
          <a:noFill/>
          <a:ln/>
        </p:spPr>
        <p:txBody>
          <a:bodyPr wrap="square" lIns="0" tIns="0" rIns="0" bIns="0" rtlCol="0" anchor="t">
            <a:spAutoFit/>
          </a:bodyPr>
          <a:lstStyle/>
          <a:p>
            <a:pPr marL="0" indent="0" algn="l">
              <a:buNone/>
            </a:pPr>
            <a:r>
              <a:rPr lang="en-US" sz="1250" dirty="0">
                <a:solidFill>
                  <a:srgbClr val="0056B3"/>
                </a:solidFill>
                <a:latin typeface="Inter Medium" pitchFamily="34" charset="0"/>
                <a:ea typeface="Inter Medium" pitchFamily="34" charset="-122"/>
                <a:cs typeface="Inter Medium" pitchFamily="34" charset="-120"/>
              </a:rPr>
              <a:t>XGBoost + TF-IDF</a:t>
            </a:r>
            <a:endParaRPr lang="en-US" sz="1250" dirty="0"/>
          </a:p>
        </p:txBody>
      </p:sp>
      <p:sp>
        <p:nvSpPr>
          <p:cNvPr id="7" name="Text 4"/>
          <p:cNvSpPr/>
          <p:nvPr/>
        </p:nvSpPr>
        <p:spPr>
          <a:xfrm>
            <a:off x="428625" y="1326952"/>
            <a:ext cx="3879056" cy="155377"/>
          </a:xfrm>
          <a:prstGeom prst="rect">
            <a:avLst/>
          </a:prstGeom>
          <a:noFill/>
          <a:ln/>
        </p:spPr>
        <p:txBody>
          <a:bodyPr wrap="square" lIns="0" tIns="0" rIns="0" bIns="0" rtlCol="0" anchor="t">
            <a:spAutoFit/>
          </a:bodyPr>
          <a:lstStyle/>
          <a:p>
            <a:pPr marL="0" indent="0" algn="l">
              <a:buNone/>
            </a:pPr>
            <a:r>
              <a:rPr lang="en-US" sz="950" kern="0" spc="1" dirty="0">
                <a:solidFill>
                  <a:srgbClr val="212529"/>
                </a:solidFill>
                <a:latin typeface="Inter Medium" pitchFamily="34" charset="0"/>
                <a:ea typeface="Inter Medium" pitchFamily="34" charset="-122"/>
                <a:cs typeface="Inter Medium" pitchFamily="34" charset="-120"/>
              </a:rPr>
              <a:t>THEORETICAL BASIS</a:t>
            </a:r>
            <a:endParaRPr lang="en-US" sz="950" dirty="0"/>
          </a:p>
        </p:txBody>
      </p:sp>
      <p:sp>
        <p:nvSpPr>
          <p:cNvPr id="8" name="Text 5"/>
          <p:cNvSpPr/>
          <p:nvPr/>
        </p:nvSpPr>
        <p:spPr>
          <a:xfrm>
            <a:off x="428625" y="1603772"/>
            <a:ext cx="3879056" cy="777218"/>
          </a:xfrm>
          <a:prstGeom prst="rect">
            <a:avLst/>
          </a:prstGeom>
          <a:noFill/>
          <a:ln/>
        </p:spPr>
        <p:txBody>
          <a:bodyPr wrap="square" lIns="0" tIns="0" rIns="0" bIns="0" rtlCol="0" anchor="t">
            <a:spAutoFit/>
          </a:bodyPr>
          <a:lstStyle/>
          <a:p>
            <a:pPr marL="0" indent="0" algn="l">
              <a:lnSpc>
                <a:spcPct val="128000"/>
              </a:lnSpc>
              <a:buNone/>
            </a:pPr>
            <a:r>
              <a:rPr lang="en-US" sz="900" dirty="0">
                <a:solidFill>
                  <a:srgbClr val="495057"/>
                </a:solidFill>
                <a:latin typeface="Inter Light" pitchFamily="34" charset="0"/>
                <a:ea typeface="Inter Light" pitchFamily="34" charset="-122"/>
                <a:cs typeface="Inter Light" pitchFamily="34" charset="-120"/>
              </a:rPr>
              <a:t>Extreme Gradient Boosting (XGBoost) is an optimized distributed gradient boosting library designed to be highly efficient, flexible, and portable. It implements machine learning algorithms under the Gradient Boosting framework.</a:t>
            </a:r>
            <a:endParaRPr lang="en-US" sz="900" dirty="0"/>
          </a:p>
        </p:txBody>
      </p:sp>
      <p:sp>
        <p:nvSpPr>
          <p:cNvPr id="9" name="Text 6"/>
          <p:cNvSpPr/>
          <p:nvPr/>
        </p:nvSpPr>
        <p:spPr>
          <a:xfrm>
            <a:off x="428625" y="2495290"/>
            <a:ext cx="3879056" cy="155377"/>
          </a:xfrm>
          <a:prstGeom prst="rect">
            <a:avLst/>
          </a:prstGeom>
          <a:noFill/>
          <a:ln/>
        </p:spPr>
        <p:txBody>
          <a:bodyPr wrap="square" lIns="0" tIns="0" rIns="0" bIns="0" rtlCol="0" anchor="t">
            <a:spAutoFit/>
          </a:bodyPr>
          <a:lstStyle/>
          <a:p>
            <a:pPr marL="0" indent="0" algn="l">
              <a:buNone/>
            </a:pPr>
            <a:r>
              <a:rPr lang="en-US" sz="950" kern="0" spc="1" dirty="0">
                <a:solidFill>
                  <a:srgbClr val="212529"/>
                </a:solidFill>
                <a:latin typeface="Inter Medium" pitchFamily="34" charset="0"/>
                <a:ea typeface="Inter Medium" pitchFamily="34" charset="-122"/>
                <a:cs typeface="Inter Medium" pitchFamily="34" charset="-120"/>
              </a:rPr>
              <a:t>APPLIED EXAMPLE</a:t>
            </a:r>
            <a:endParaRPr lang="en-US" sz="950" dirty="0"/>
          </a:p>
        </p:txBody>
      </p:sp>
      <p:sp>
        <p:nvSpPr>
          <p:cNvPr id="10" name="Text 7"/>
          <p:cNvSpPr/>
          <p:nvPr/>
        </p:nvSpPr>
        <p:spPr>
          <a:xfrm>
            <a:off x="571500" y="2707816"/>
            <a:ext cx="3736181" cy="194304"/>
          </a:xfrm>
          <a:prstGeom prst="rect">
            <a:avLst/>
          </a:prstGeom>
          <a:noFill/>
          <a:ln/>
        </p:spPr>
        <p:txBody>
          <a:bodyPr wrap="none" lIns="0" tIns="0" rIns="0" bIns="0" rtlCol="0" anchor="t">
            <a:spAutoFit/>
          </a:bodyPr>
          <a:lstStyle/>
          <a:p>
            <a:pPr marL="127000" indent="-127000" algn="l">
              <a:lnSpc>
                <a:spcPct val="128000"/>
              </a:lnSpc>
              <a:buSzPct val="100000"/>
              <a:buChar char="•"/>
            </a:pPr>
            <a:r>
              <a:rPr lang="en-US" sz="900" dirty="0">
                <a:solidFill>
                  <a:srgbClr val="495057"/>
                </a:solidFill>
                <a:latin typeface="Inter Light" pitchFamily="34" charset="0"/>
                <a:ea typeface="Inter Light" pitchFamily="34" charset="-122"/>
                <a:cs typeface="Inter Light" pitchFamily="34" charset="-120"/>
              </a:rPr>
              <a:t>Utilizes statistical TF-IDF features (n-grams 1-2).</a:t>
            </a:r>
            <a:endParaRPr lang="en-US" sz="900" dirty="0"/>
          </a:p>
        </p:txBody>
      </p:sp>
      <p:sp>
        <p:nvSpPr>
          <p:cNvPr id="11" name="Text 8"/>
          <p:cNvSpPr/>
          <p:nvPr/>
        </p:nvSpPr>
        <p:spPr>
          <a:xfrm>
            <a:off x="571500" y="2959271"/>
            <a:ext cx="3736181" cy="194304"/>
          </a:xfrm>
          <a:prstGeom prst="rect">
            <a:avLst/>
          </a:prstGeom>
          <a:noFill/>
          <a:ln/>
        </p:spPr>
        <p:txBody>
          <a:bodyPr wrap="none" lIns="0" tIns="0" rIns="0" bIns="0" rtlCol="0" anchor="t">
            <a:spAutoFit/>
          </a:bodyPr>
          <a:lstStyle/>
          <a:p>
            <a:pPr marL="127000" indent="-127000" algn="l">
              <a:lnSpc>
                <a:spcPct val="128000"/>
              </a:lnSpc>
              <a:buSzPct val="100000"/>
              <a:buChar char="•"/>
            </a:pPr>
            <a:r>
              <a:rPr lang="en-US" sz="900" dirty="0">
                <a:solidFill>
                  <a:srgbClr val="495057"/>
                </a:solidFill>
                <a:latin typeface="Inter Light" pitchFamily="34" charset="0"/>
                <a:ea typeface="Inter Light" pitchFamily="34" charset="-122"/>
                <a:cs typeface="Inter Light" pitchFamily="34" charset="-120"/>
              </a:rPr>
              <a:t>Handles sparse data from Arabic text effectively.</a:t>
            </a:r>
            <a:endParaRPr lang="en-US" sz="900" dirty="0"/>
          </a:p>
        </p:txBody>
      </p:sp>
      <p:sp>
        <p:nvSpPr>
          <p:cNvPr id="12" name="Text 9"/>
          <p:cNvSpPr/>
          <p:nvPr/>
        </p:nvSpPr>
        <p:spPr>
          <a:xfrm>
            <a:off x="571500" y="3210725"/>
            <a:ext cx="3736181" cy="194304"/>
          </a:xfrm>
          <a:prstGeom prst="rect">
            <a:avLst/>
          </a:prstGeom>
          <a:noFill/>
          <a:ln/>
        </p:spPr>
        <p:txBody>
          <a:bodyPr wrap="none" lIns="0" tIns="0" rIns="0" bIns="0" rtlCol="0" anchor="t">
            <a:spAutoFit/>
          </a:bodyPr>
          <a:lstStyle/>
          <a:p>
            <a:pPr marL="127000" indent="-127000" algn="l">
              <a:lnSpc>
                <a:spcPct val="128000"/>
              </a:lnSpc>
              <a:buSzPct val="100000"/>
              <a:buChar char="•"/>
            </a:pPr>
            <a:r>
              <a:rPr lang="en-US" sz="900" dirty="0">
                <a:solidFill>
                  <a:srgbClr val="495057"/>
                </a:solidFill>
                <a:latin typeface="Inter Light" pitchFamily="34" charset="0"/>
                <a:ea typeface="Inter Light" pitchFamily="34" charset="-122"/>
                <a:cs typeface="Inter Light" pitchFamily="34" charset="-120"/>
              </a:rPr>
              <a:t>Fast training and inference cycles.</a:t>
            </a:r>
            <a:endParaRPr lang="en-US" sz="900" dirty="0"/>
          </a:p>
        </p:txBody>
      </p:sp>
      <p:sp>
        <p:nvSpPr>
          <p:cNvPr id="13" name="Shape 10"/>
          <p:cNvSpPr/>
          <p:nvPr/>
        </p:nvSpPr>
        <p:spPr>
          <a:xfrm>
            <a:off x="428625" y="3490754"/>
            <a:ext cx="3879056" cy="328613"/>
          </a:xfrm>
          <a:prstGeom prst="rect">
            <a:avLst/>
          </a:prstGeom>
          <a:solidFill>
            <a:srgbClr val="FFFFFF"/>
          </a:solidFill>
          <a:ln/>
        </p:spPr>
        <p:txBody>
          <a:bodyPr/>
          <a:lstStyle/>
          <a:p>
            <a:endParaRPr lang="en-US"/>
          </a:p>
        </p:txBody>
      </p:sp>
      <p:sp>
        <p:nvSpPr>
          <p:cNvPr id="14" name="Shape 11"/>
          <p:cNvSpPr/>
          <p:nvPr/>
        </p:nvSpPr>
        <p:spPr>
          <a:xfrm>
            <a:off x="428625" y="3490754"/>
            <a:ext cx="3879056" cy="14288"/>
          </a:xfrm>
          <a:prstGeom prst="rect">
            <a:avLst/>
          </a:prstGeom>
          <a:solidFill>
            <a:srgbClr val="0056B3"/>
          </a:solidFill>
          <a:ln/>
        </p:spPr>
        <p:txBody>
          <a:bodyPr/>
          <a:lstStyle/>
          <a:p>
            <a:endParaRPr lang="en-US"/>
          </a:p>
        </p:txBody>
      </p:sp>
      <p:sp>
        <p:nvSpPr>
          <p:cNvPr id="15" name="Text 12"/>
          <p:cNvSpPr/>
          <p:nvPr/>
        </p:nvSpPr>
        <p:spPr>
          <a:xfrm>
            <a:off x="535781" y="3562192"/>
            <a:ext cx="3664744" cy="242888"/>
          </a:xfrm>
          <a:prstGeom prst="rect">
            <a:avLst/>
          </a:prstGeom>
          <a:noFill/>
          <a:ln/>
        </p:spPr>
        <p:txBody>
          <a:bodyPr wrap="square" lIns="0" tIns="0" rIns="0" bIns="0" rtlCol="0" anchor="t">
            <a:spAutoFit/>
          </a:bodyPr>
          <a:lstStyle/>
          <a:p>
            <a:pPr marL="0" indent="0" algn="l">
              <a:buNone/>
            </a:pPr>
            <a:r>
              <a:rPr lang="en-US" sz="1500" dirty="0">
                <a:solidFill>
                  <a:srgbClr val="0056B3"/>
                </a:solidFill>
                <a:latin typeface="Inter Medium" pitchFamily="34" charset="0"/>
                <a:ea typeface="Inter Medium" pitchFamily="34" charset="-122"/>
                <a:cs typeface="Inter Medium" pitchFamily="34" charset="-120"/>
              </a:rPr>
              <a:t>91.24% Accuracy</a:t>
            </a:r>
            <a:endParaRPr lang="en-US" sz="1500" dirty="0"/>
          </a:p>
        </p:txBody>
      </p:sp>
      <p:sp>
        <p:nvSpPr>
          <p:cNvPr id="16" name="Shape 13"/>
          <p:cNvSpPr/>
          <p:nvPr/>
        </p:nvSpPr>
        <p:spPr>
          <a:xfrm>
            <a:off x="4664869" y="705445"/>
            <a:ext cx="4193381" cy="4438055"/>
          </a:xfrm>
          <a:prstGeom prst="rect">
            <a:avLst/>
          </a:prstGeom>
          <a:solidFill>
            <a:srgbClr val="E9ECEF"/>
          </a:solidFill>
          <a:ln/>
        </p:spPr>
        <p:txBody>
          <a:bodyPr/>
          <a:lstStyle/>
          <a:p>
            <a:endParaRPr lang="en-US"/>
          </a:p>
        </p:txBody>
      </p:sp>
      <p:sp>
        <p:nvSpPr>
          <p:cNvPr id="17" name="Shape 14"/>
          <p:cNvSpPr/>
          <p:nvPr/>
        </p:nvSpPr>
        <p:spPr>
          <a:xfrm>
            <a:off x="4664869" y="705445"/>
            <a:ext cx="28575" cy="4438055"/>
          </a:xfrm>
          <a:prstGeom prst="rect">
            <a:avLst/>
          </a:prstGeom>
          <a:solidFill>
            <a:srgbClr val="0056B3"/>
          </a:solidFill>
          <a:ln/>
        </p:spPr>
        <p:txBody>
          <a:bodyPr/>
          <a:lstStyle/>
          <a:p>
            <a:endParaRPr lang="en-US"/>
          </a:p>
        </p:txBody>
      </p:sp>
      <p:sp>
        <p:nvSpPr>
          <p:cNvPr id="18" name="Text 15"/>
          <p:cNvSpPr/>
          <p:nvPr/>
        </p:nvSpPr>
        <p:spPr>
          <a:xfrm>
            <a:off x="4822031" y="1005483"/>
            <a:ext cx="3893344" cy="207169"/>
          </a:xfrm>
          <a:prstGeom prst="rect">
            <a:avLst/>
          </a:prstGeom>
          <a:noFill/>
          <a:ln/>
        </p:spPr>
        <p:txBody>
          <a:bodyPr wrap="square" lIns="0" tIns="0" rIns="0" bIns="0" rtlCol="0" anchor="t">
            <a:spAutoFit/>
          </a:bodyPr>
          <a:lstStyle/>
          <a:p>
            <a:pPr marL="0" indent="0" algn="l">
              <a:buNone/>
            </a:pPr>
            <a:r>
              <a:rPr lang="en-US" sz="1250" dirty="0">
                <a:solidFill>
                  <a:srgbClr val="0056B3"/>
                </a:solidFill>
                <a:latin typeface="Inter Medium" pitchFamily="34" charset="0"/>
                <a:ea typeface="Inter Medium" pitchFamily="34" charset="-122"/>
                <a:cs typeface="Inter Medium" pitchFamily="34" charset="-120"/>
              </a:rPr>
              <a:t>AraBERT Fine-tuning</a:t>
            </a:r>
            <a:endParaRPr lang="en-US" sz="1250" dirty="0"/>
          </a:p>
        </p:txBody>
      </p:sp>
      <p:sp>
        <p:nvSpPr>
          <p:cNvPr id="19" name="Text 16"/>
          <p:cNvSpPr/>
          <p:nvPr/>
        </p:nvSpPr>
        <p:spPr>
          <a:xfrm>
            <a:off x="4822031" y="1326952"/>
            <a:ext cx="3893344" cy="155377"/>
          </a:xfrm>
          <a:prstGeom prst="rect">
            <a:avLst/>
          </a:prstGeom>
          <a:noFill/>
          <a:ln/>
        </p:spPr>
        <p:txBody>
          <a:bodyPr wrap="square" lIns="0" tIns="0" rIns="0" bIns="0" rtlCol="0" anchor="t">
            <a:spAutoFit/>
          </a:bodyPr>
          <a:lstStyle/>
          <a:p>
            <a:pPr marL="0" indent="0" algn="l">
              <a:buNone/>
            </a:pPr>
            <a:r>
              <a:rPr lang="en-US" sz="950" kern="0" spc="1" dirty="0">
                <a:solidFill>
                  <a:srgbClr val="212529"/>
                </a:solidFill>
                <a:latin typeface="Inter Medium" pitchFamily="34" charset="0"/>
                <a:ea typeface="Inter Medium" pitchFamily="34" charset="-122"/>
                <a:cs typeface="Inter Medium" pitchFamily="34" charset="-120"/>
              </a:rPr>
              <a:t>THEORETICAL BASIS</a:t>
            </a:r>
            <a:endParaRPr lang="en-US" sz="950" dirty="0"/>
          </a:p>
        </p:txBody>
      </p:sp>
      <p:sp>
        <p:nvSpPr>
          <p:cNvPr id="20" name="Text 17"/>
          <p:cNvSpPr/>
          <p:nvPr/>
        </p:nvSpPr>
        <p:spPr>
          <a:xfrm>
            <a:off x="4822031" y="1603772"/>
            <a:ext cx="3893344" cy="582913"/>
          </a:xfrm>
          <a:prstGeom prst="rect">
            <a:avLst/>
          </a:prstGeom>
          <a:noFill/>
          <a:ln/>
        </p:spPr>
        <p:txBody>
          <a:bodyPr wrap="square" lIns="0" tIns="0" rIns="0" bIns="0" rtlCol="0" anchor="t">
            <a:spAutoFit/>
          </a:bodyPr>
          <a:lstStyle/>
          <a:p>
            <a:pPr marL="0" indent="0" algn="l">
              <a:lnSpc>
                <a:spcPct val="128000"/>
              </a:lnSpc>
              <a:buNone/>
            </a:pPr>
            <a:r>
              <a:rPr lang="en-US" sz="900" dirty="0">
                <a:solidFill>
                  <a:srgbClr val="495057"/>
                </a:solidFill>
                <a:latin typeface="Inter Light" pitchFamily="34" charset="0"/>
                <a:ea typeface="Inter Light" pitchFamily="34" charset="-122"/>
                <a:cs typeface="Inter Light" pitchFamily="34" charset="-120"/>
              </a:rPr>
              <a:t>AraBERT is a BERT-based pre-trained model for Arabic NLP. It leverages the Transformer architecture to capture deep bidirectional representations and contextual nuances of the Arabic language.</a:t>
            </a:r>
            <a:endParaRPr lang="en-US" sz="900" dirty="0"/>
          </a:p>
        </p:txBody>
      </p:sp>
      <p:sp>
        <p:nvSpPr>
          <p:cNvPr id="21" name="Text 18"/>
          <p:cNvSpPr/>
          <p:nvPr/>
        </p:nvSpPr>
        <p:spPr>
          <a:xfrm>
            <a:off x="4822031" y="2300985"/>
            <a:ext cx="3893344" cy="155377"/>
          </a:xfrm>
          <a:prstGeom prst="rect">
            <a:avLst/>
          </a:prstGeom>
          <a:noFill/>
          <a:ln/>
        </p:spPr>
        <p:txBody>
          <a:bodyPr wrap="square" lIns="0" tIns="0" rIns="0" bIns="0" rtlCol="0" anchor="t">
            <a:spAutoFit/>
          </a:bodyPr>
          <a:lstStyle/>
          <a:p>
            <a:pPr marL="0" indent="0" algn="l">
              <a:buNone/>
            </a:pPr>
            <a:r>
              <a:rPr lang="en-US" sz="950" kern="0" spc="1" dirty="0">
                <a:solidFill>
                  <a:srgbClr val="212529"/>
                </a:solidFill>
                <a:latin typeface="Inter Medium" pitchFamily="34" charset="0"/>
                <a:ea typeface="Inter Medium" pitchFamily="34" charset="-122"/>
                <a:cs typeface="Inter Medium" pitchFamily="34" charset="-120"/>
              </a:rPr>
              <a:t>APPLIED EXAMPLE</a:t>
            </a:r>
            <a:endParaRPr lang="en-US" sz="950" dirty="0"/>
          </a:p>
        </p:txBody>
      </p:sp>
      <p:sp>
        <p:nvSpPr>
          <p:cNvPr id="22" name="Text 19"/>
          <p:cNvSpPr/>
          <p:nvPr/>
        </p:nvSpPr>
        <p:spPr>
          <a:xfrm>
            <a:off x="4964906" y="2513512"/>
            <a:ext cx="3750469" cy="194304"/>
          </a:xfrm>
          <a:prstGeom prst="rect">
            <a:avLst/>
          </a:prstGeom>
          <a:noFill/>
          <a:ln/>
        </p:spPr>
        <p:txBody>
          <a:bodyPr wrap="none" lIns="0" tIns="0" rIns="0" bIns="0" rtlCol="0" anchor="t">
            <a:spAutoFit/>
          </a:bodyPr>
          <a:lstStyle/>
          <a:p>
            <a:pPr marL="127000" indent="-127000" algn="l">
              <a:lnSpc>
                <a:spcPct val="128000"/>
              </a:lnSpc>
              <a:buSzPct val="100000"/>
              <a:buChar char="•"/>
            </a:pPr>
            <a:r>
              <a:rPr lang="en-US" sz="900" dirty="0">
                <a:solidFill>
                  <a:srgbClr val="495057"/>
                </a:solidFill>
                <a:latin typeface="Inter Light" pitchFamily="34" charset="0"/>
                <a:ea typeface="Inter Light" pitchFamily="34" charset="-122"/>
                <a:cs typeface="Inter Light" pitchFamily="34" charset="-120"/>
              </a:rPr>
              <a:t>Fine-tuned on the Egyptian dialect dataset.</a:t>
            </a:r>
            <a:endParaRPr lang="en-US" sz="900" dirty="0"/>
          </a:p>
        </p:txBody>
      </p:sp>
      <p:sp>
        <p:nvSpPr>
          <p:cNvPr id="23" name="Text 20"/>
          <p:cNvSpPr/>
          <p:nvPr/>
        </p:nvSpPr>
        <p:spPr>
          <a:xfrm>
            <a:off x="4964906" y="2764966"/>
            <a:ext cx="3750469" cy="194304"/>
          </a:xfrm>
          <a:prstGeom prst="rect">
            <a:avLst/>
          </a:prstGeom>
          <a:noFill/>
          <a:ln/>
        </p:spPr>
        <p:txBody>
          <a:bodyPr wrap="none" lIns="0" tIns="0" rIns="0" bIns="0" rtlCol="0" anchor="t">
            <a:spAutoFit/>
          </a:bodyPr>
          <a:lstStyle/>
          <a:p>
            <a:pPr marL="127000" indent="-127000" algn="l">
              <a:lnSpc>
                <a:spcPct val="128000"/>
              </a:lnSpc>
              <a:buSzPct val="100000"/>
              <a:buChar char="•"/>
            </a:pPr>
            <a:r>
              <a:rPr lang="en-US" sz="900" dirty="0">
                <a:solidFill>
                  <a:srgbClr val="495057"/>
                </a:solidFill>
                <a:latin typeface="Inter Light" pitchFamily="34" charset="0"/>
                <a:ea typeface="Inter Light" pitchFamily="34" charset="-122"/>
                <a:cs typeface="Inter Light" pitchFamily="34" charset="-120"/>
              </a:rPr>
              <a:t>Captures semantic meaning beyond word frequency.</a:t>
            </a:r>
            <a:endParaRPr lang="en-US" sz="900" dirty="0"/>
          </a:p>
        </p:txBody>
      </p:sp>
      <p:sp>
        <p:nvSpPr>
          <p:cNvPr id="24" name="Text 21"/>
          <p:cNvSpPr/>
          <p:nvPr/>
        </p:nvSpPr>
        <p:spPr>
          <a:xfrm>
            <a:off x="4964906" y="3016421"/>
            <a:ext cx="3750469" cy="194304"/>
          </a:xfrm>
          <a:prstGeom prst="rect">
            <a:avLst/>
          </a:prstGeom>
          <a:noFill/>
          <a:ln/>
        </p:spPr>
        <p:txBody>
          <a:bodyPr wrap="none" lIns="0" tIns="0" rIns="0" bIns="0" rtlCol="0" anchor="t">
            <a:spAutoFit/>
          </a:bodyPr>
          <a:lstStyle/>
          <a:p>
            <a:pPr marL="127000" indent="-127000" algn="l">
              <a:lnSpc>
                <a:spcPct val="128000"/>
              </a:lnSpc>
              <a:buSzPct val="100000"/>
              <a:buChar char="•"/>
            </a:pPr>
            <a:r>
              <a:rPr lang="en-US" sz="900" dirty="0">
                <a:solidFill>
                  <a:srgbClr val="495057"/>
                </a:solidFill>
                <a:latin typeface="Inter Light" pitchFamily="34" charset="0"/>
                <a:ea typeface="Inter Light" pitchFamily="34" charset="-122"/>
                <a:cs typeface="Inter Light" pitchFamily="34" charset="-120"/>
              </a:rPr>
              <a:t>Requires GPU acceleration for efficient training.</a:t>
            </a:r>
            <a:endParaRPr lang="en-US" sz="900" dirty="0"/>
          </a:p>
        </p:txBody>
      </p:sp>
      <p:sp>
        <p:nvSpPr>
          <p:cNvPr id="25" name="Shape 22"/>
          <p:cNvSpPr/>
          <p:nvPr/>
        </p:nvSpPr>
        <p:spPr>
          <a:xfrm>
            <a:off x="4822031" y="3296450"/>
            <a:ext cx="3893344" cy="328613"/>
          </a:xfrm>
          <a:prstGeom prst="rect">
            <a:avLst/>
          </a:prstGeom>
          <a:solidFill>
            <a:srgbClr val="FFFFFF"/>
          </a:solidFill>
          <a:ln/>
        </p:spPr>
        <p:txBody>
          <a:bodyPr/>
          <a:lstStyle/>
          <a:p>
            <a:endParaRPr lang="en-US"/>
          </a:p>
        </p:txBody>
      </p:sp>
      <p:sp>
        <p:nvSpPr>
          <p:cNvPr id="26" name="Shape 23"/>
          <p:cNvSpPr/>
          <p:nvPr/>
        </p:nvSpPr>
        <p:spPr>
          <a:xfrm>
            <a:off x="4822031" y="3296450"/>
            <a:ext cx="3893344" cy="14288"/>
          </a:xfrm>
          <a:prstGeom prst="rect">
            <a:avLst/>
          </a:prstGeom>
          <a:solidFill>
            <a:srgbClr val="0056B3"/>
          </a:solidFill>
          <a:ln/>
        </p:spPr>
        <p:txBody>
          <a:bodyPr/>
          <a:lstStyle/>
          <a:p>
            <a:endParaRPr lang="en-US"/>
          </a:p>
        </p:txBody>
      </p:sp>
      <p:sp>
        <p:nvSpPr>
          <p:cNvPr id="27" name="Text 24"/>
          <p:cNvSpPr/>
          <p:nvPr/>
        </p:nvSpPr>
        <p:spPr>
          <a:xfrm>
            <a:off x="4929188" y="3367887"/>
            <a:ext cx="3679031" cy="242888"/>
          </a:xfrm>
          <a:prstGeom prst="rect">
            <a:avLst/>
          </a:prstGeom>
          <a:noFill/>
          <a:ln/>
        </p:spPr>
        <p:txBody>
          <a:bodyPr wrap="square" lIns="0" tIns="0" rIns="0" bIns="0" rtlCol="0" anchor="t">
            <a:spAutoFit/>
          </a:bodyPr>
          <a:lstStyle/>
          <a:p>
            <a:pPr marL="0" indent="0" algn="l">
              <a:buNone/>
            </a:pPr>
            <a:r>
              <a:rPr lang="en-US" sz="1500" dirty="0">
                <a:solidFill>
                  <a:srgbClr val="0056B3"/>
                </a:solidFill>
                <a:latin typeface="Inter Medium" pitchFamily="34" charset="0"/>
                <a:ea typeface="Inter Medium" pitchFamily="34" charset="-122"/>
                <a:cs typeface="Inter Medium" pitchFamily="34" charset="-120"/>
              </a:rPr>
              <a:t>90.01% Accuracy</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 y="57150"/>
            <a:ext cx="9029700" cy="5143500"/>
          </a:xfrm>
          <a:prstGeom prst="rect">
            <a:avLst/>
          </a:prstGeom>
        </p:spPr>
      </p:pic>
      <p:sp>
        <p:nvSpPr>
          <p:cNvPr id="3" name="Text 0"/>
          <p:cNvSpPr/>
          <p:nvPr/>
        </p:nvSpPr>
        <p:spPr>
          <a:xfrm>
            <a:off x="485775" y="342900"/>
            <a:ext cx="8715375" cy="276820"/>
          </a:xfrm>
          <a:prstGeom prst="rect">
            <a:avLst/>
          </a:prstGeom>
          <a:noFill/>
          <a:ln/>
        </p:spPr>
        <p:txBody>
          <a:bodyPr wrap="square" lIns="0" tIns="0" rIns="0" bIns="0" rtlCol="0" anchor="t">
            <a:spAutoFit/>
          </a:bodyPr>
          <a:lstStyle/>
          <a:p>
            <a:pPr marL="0" indent="0" algn="l">
              <a:buNone/>
            </a:pPr>
            <a:r>
              <a:rPr lang="en-US" sz="1700" dirty="0">
                <a:solidFill>
                  <a:srgbClr val="212529"/>
                </a:solidFill>
                <a:latin typeface="Inter Medium" pitchFamily="34" charset="0"/>
                <a:ea typeface="Inter Medium" pitchFamily="34" charset="-122"/>
                <a:cs typeface="Inter Medium" pitchFamily="34" charset="-120"/>
              </a:rPr>
              <a:t>Model Comparison: BiLSTM &amp; Performance Summary</a:t>
            </a:r>
            <a:endParaRPr lang="en-US" sz="1700" dirty="0"/>
          </a:p>
        </p:txBody>
      </p:sp>
      <p:sp>
        <p:nvSpPr>
          <p:cNvPr id="4" name="Shape 1"/>
          <p:cNvSpPr/>
          <p:nvPr/>
        </p:nvSpPr>
        <p:spPr>
          <a:xfrm>
            <a:off x="485775" y="734020"/>
            <a:ext cx="4057650" cy="1185863"/>
          </a:xfrm>
          <a:prstGeom prst="rect">
            <a:avLst/>
          </a:prstGeom>
          <a:solidFill>
            <a:srgbClr val="E9ECEF"/>
          </a:solidFill>
          <a:ln/>
        </p:spPr>
        <p:txBody>
          <a:bodyPr/>
          <a:lstStyle/>
          <a:p>
            <a:endParaRPr lang="en-US"/>
          </a:p>
        </p:txBody>
      </p:sp>
      <p:sp>
        <p:nvSpPr>
          <p:cNvPr id="5" name="Shape 2"/>
          <p:cNvSpPr/>
          <p:nvPr/>
        </p:nvSpPr>
        <p:spPr>
          <a:xfrm>
            <a:off x="485775" y="734020"/>
            <a:ext cx="28575" cy="1185863"/>
          </a:xfrm>
          <a:prstGeom prst="rect">
            <a:avLst/>
          </a:prstGeom>
          <a:solidFill>
            <a:srgbClr val="0056B3"/>
          </a:solidFill>
          <a:ln/>
        </p:spPr>
        <p:txBody>
          <a:bodyPr/>
          <a:lstStyle/>
          <a:p>
            <a:endParaRPr lang="en-US"/>
          </a:p>
        </p:txBody>
      </p:sp>
      <p:sp>
        <p:nvSpPr>
          <p:cNvPr id="6" name="Text 3"/>
          <p:cNvSpPr/>
          <p:nvPr/>
        </p:nvSpPr>
        <p:spPr>
          <a:xfrm>
            <a:off x="542925" y="962620"/>
            <a:ext cx="3943350" cy="207169"/>
          </a:xfrm>
          <a:prstGeom prst="rect">
            <a:avLst/>
          </a:prstGeom>
          <a:noFill/>
          <a:ln/>
        </p:spPr>
        <p:txBody>
          <a:bodyPr wrap="square" lIns="0" tIns="0" rIns="0" bIns="0" rtlCol="0" anchor="t">
            <a:spAutoFit/>
          </a:bodyPr>
          <a:lstStyle/>
          <a:p>
            <a:pPr marL="0" indent="0" algn="l">
              <a:buNone/>
            </a:pPr>
            <a:r>
              <a:rPr lang="en-US" sz="1250" dirty="0">
                <a:solidFill>
                  <a:srgbClr val="0056B3"/>
                </a:solidFill>
                <a:latin typeface="Inter Medium" pitchFamily="34" charset="0"/>
                <a:ea typeface="Inter Medium" pitchFamily="34" charset="-122"/>
                <a:cs typeface="Inter Medium" pitchFamily="34" charset="-120"/>
              </a:rPr>
              <a:t>BiLSTM + Custom Word2Vec</a:t>
            </a:r>
            <a:endParaRPr lang="en-US" sz="1250" dirty="0"/>
          </a:p>
        </p:txBody>
      </p:sp>
      <p:sp>
        <p:nvSpPr>
          <p:cNvPr id="7" name="Text 4"/>
          <p:cNvSpPr/>
          <p:nvPr/>
        </p:nvSpPr>
        <p:spPr>
          <a:xfrm>
            <a:off x="542925" y="1298377"/>
            <a:ext cx="3943350" cy="578644"/>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495057"/>
                </a:solidFill>
                <a:latin typeface="Inter Light" pitchFamily="34" charset="0"/>
                <a:ea typeface="Inter Light" pitchFamily="34" charset="-122"/>
                <a:cs typeface="Inter Light" pitchFamily="34" charset="-120"/>
              </a:rPr>
              <a:t>Theoretical Basis &amp; Application: Bidirectional LSTMs capture context from both directions; used with a custom Word2Vec trained on Egyptian Arabic to capture dialect semantics.</a:t>
            </a:r>
            <a:endParaRPr lang="en-US" sz="950" dirty="0"/>
          </a:p>
        </p:txBody>
      </p:sp>
      <p:sp>
        <p:nvSpPr>
          <p:cNvPr id="8" name="Shape 5"/>
          <p:cNvSpPr/>
          <p:nvPr/>
        </p:nvSpPr>
        <p:spPr>
          <a:xfrm>
            <a:off x="485775" y="2005608"/>
            <a:ext cx="4057650" cy="1328738"/>
          </a:xfrm>
          <a:prstGeom prst="rect">
            <a:avLst/>
          </a:prstGeom>
          <a:solidFill>
            <a:srgbClr val="E9ECEF"/>
          </a:solidFill>
          <a:ln/>
        </p:spPr>
        <p:txBody>
          <a:bodyPr/>
          <a:lstStyle/>
          <a:p>
            <a:endParaRPr lang="en-US"/>
          </a:p>
        </p:txBody>
      </p:sp>
      <p:sp>
        <p:nvSpPr>
          <p:cNvPr id="9" name="Shape 6"/>
          <p:cNvSpPr/>
          <p:nvPr/>
        </p:nvSpPr>
        <p:spPr>
          <a:xfrm>
            <a:off x="485775" y="2005608"/>
            <a:ext cx="28575" cy="1328738"/>
          </a:xfrm>
          <a:prstGeom prst="rect">
            <a:avLst/>
          </a:prstGeom>
          <a:solidFill>
            <a:srgbClr val="0056B3"/>
          </a:solidFill>
          <a:ln/>
        </p:spPr>
        <p:txBody>
          <a:bodyPr/>
          <a:lstStyle/>
          <a:p>
            <a:endParaRPr lang="en-US"/>
          </a:p>
        </p:txBody>
      </p:sp>
      <p:sp>
        <p:nvSpPr>
          <p:cNvPr id="10" name="Text 7"/>
          <p:cNvSpPr/>
          <p:nvPr/>
        </p:nvSpPr>
        <p:spPr>
          <a:xfrm>
            <a:off x="542925" y="2234208"/>
            <a:ext cx="3943350" cy="207169"/>
          </a:xfrm>
          <a:prstGeom prst="rect">
            <a:avLst/>
          </a:prstGeom>
          <a:noFill/>
          <a:ln/>
        </p:spPr>
        <p:txBody>
          <a:bodyPr wrap="square" lIns="0" tIns="0" rIns="0" bIns="0" rtlCol="0" anchor="t">
            <a:spAutoFit/>
          </a:bodyPr>
          <a:lstStyle/>
          <a:p>
            <a:pPr marL="0" indent="0" algn="l">
              <a:buNone/>
            </a:pPr>
            <a:r>
              <a:rPr lang="en-US" sz="1250" dirty="0">
                <a:solidFill>
                  <a:srgbClr val="0056B3"/>
                </a:solidFill>
                <a:latin typeface="Inter Medium" pitchFamily="34" charset="0"/>
                <a:ea typeface="Inter Medium" pitchFamily="34" charset="-122"/>
                <a:cs typeface="Inter Medium" pitchFamily="34" charset="-120"/>
              </a:rPr>
              <a:t>Performance Insights</a:t>
            </a:r>
            <a:endParaRPr lang="en-US" sz="1250" dirty="0"/>
          </a:p>
        </p:txBody>
      </p:sp>
      <p:sp>
        <p:nvSpPr>
          <p:cNvPr id="11" name="Text 8"/>
          <p:cNvSpPr/>
          <p:nvPr/>
        </p:nvSpPr>
        <p:spPr>
          <a:xfrm>
            <a:off x="657225" y="2555677"/>
            <a:ext cx="3829050" cy="192881"/>
          </a:xfrm>
          <a:prstGeom prst="rect">
            <a:avLst/>
          </a:prstGeom>
          <a:noFill/>
          <a:ln/>
        </p:spPr>
        <p:txBody>
          <a:bodyPr wrap="none" lIns="0" tIns="0" rIns="0" bIns="0" rtlCol="0" anchor="t">
            <a:spAutoFit/>
          </a:bodyPr>
          <a:lstStyle/>
          <a:p>
            <a:pPr marL="127000" indent="-127000" algn="l">
              <a:lnSpc>
                <a:spcPct val="120000"/>
              </a:lnSpc>
              <a:buSzPct val="100000"/>
              <a:buChar char="•"/>
            </a:pPr>
            <a:r>
              <a:rPr lang="en-US" sz="950" dirty="0">
                <a:solidFill>
                  <a:srgbClr val="495057"/>
                </a:solidFill>
                <a:latin typeface="Inter Light" pitchFamily="34" charset="0"/>
                <a:ea typeface="Inter Light" pitchFamily="34" charset="-122"/>
                <a:cs typeface="Inter Light" pitchFamily="34" charset="-120"/>
              </a:rPr>
              <a:t>XGBoost: Leading performance with 91.24% accuracy.</a:t>
            </a:r>
            <a:endParaRPr lang="en-US" sz="950" dirty="0"/>
          </a:p>
        </p:txBody>
      </p:sp>
      <p:sp>
        <p:nvSpPr>
          <p:cNvPr id="12" name="Text 9"/>
          <p:cNvSpPr/>
          <p:nvPr/>
        </p:nvSpPr>
        <p:spPr>
          <a:xfrm>
            <a:off x="657225" y="2791420"/>
            <a:ext cx="3829050" cy="192881"/>
          </a:xfrm>
          <a:prstGeom prst="rect">
            <a:avLst/>
          </a:prstGeom>
          <a:noFill/>
          <a:ln/>
        </p:spPr>
        <p:txBody>
          <a:bodyPr wrap="none" lIns="0" tIns="0" rIns="0" bIns="0" rtlCol="0" anchor="t">
            <a:spAutoFit/>
          </a:bodyPr>
          <a:lstStyle/>
          <a:p>
            <a:pPr marL="127000" indent="-127000" algn="l">
              <a:lnSpc>
                <a:spcPct val="120000"/>
              </a:lnSpc>
              <a:buSzPct val="100000"/>
              <a:buChar char="•"/>
            </a:pPr>
            <a:r>
              <a:rPr lang="en-US" sz="950" dirty="0">
                <a:solidFill>
                  <a:srgbClr val="495057"/>
                </a:solidFill>
                <a:latin typeface="Inter Light" pitchFamily="34" charset="0"/>
                <a:ea typeface="Inter Light" pitchFamily="34" charset="-122"/>
                <a:cs typeface="Inter Light" pitchFamily="34" charset="-120"/>
              </a:rPr>
              <a:t>AraBERT: Strong contextual understanding (90.01%).</a:t>
            </a:r>
            <a:endParaRPr lang="en-US" sz="950" dirty="0"/>
          </a:p>
        </p:txBody>
      </p:sp>
      <p:sp>
        <p:nvSpPr>
          <p:cNvPr id="13" name="Text 10"/>
          <p:cNvSpPr/>
          <p:nvPr/>
        </p:nvSpPr>
        <p:spPr>
          <a:xfrm>
            <a:off x="657225" y="3027164"/>
            <a:ext cx="3829050" cy="192881"/>
          </a:xfrm>
          <a:prstGeom prst="rect">
            <a:avLst/>
          </a:prstGeom>
          <a:noFill/>
          <a:ln/>
        </p:spPr>
        <p:txBody>
          <a:bodyPr wrap="none" lIns="0" tIns="0" rIns="0" bIns="0" rtlCol="0" anchor="t">
            <a:spAutoFit/>
          </a:bodyPr>
          <a:lstStyle/>
          <a:p>
            <a:pPr marL="127000" indent="-127000" algn="l">
              <a:lnSpc>
                <a:spcPct val="120000"/>
              </a:lnSpc>
              <a:buSzPct val="100000"/>
              <a:buChar char="•"/>
            </a:pPr>
            <a:r>
              <a:rPr lang="en-US" sz="950" dirty="0">
                <a:solidFill>
                  <a:srgbClr val="495057"/>
                </a:solidFill>
                <a:latin typeface="Inter Light" pitchFamily="34" charset="0"/>
                <a:ea typeface="Inter Light" pitchFamily="34" charset="-122"/>
                <a:cs typeface="Inter Light" pitchFamily="34" charset="-120"/>
              </a:rPr>
              <a:t>BiLSTM: Robust sequential modeling (90.22%).</a:t>
            </a:r>
            <a:endParaRPr lang="en-US" sz="950" dirty="0"/>
          </a:p>
        </p:txBody>
      </p:sp>
      <p:sp>
        <p:nvSpPr>
          <p:cNvPr id="14" name="Shape 11"/>
          <p:cNvSpPr/>
          <p:nvPr/>
        </p:nvSpPr>
        <p:spPr>
          <a:xfrm>
            <a:off x="4686300" y="734020"/>
            <a:ext cx="4086225" cy="2721769"/>
          </a:xfrm>
          <a:prstGeom prst="rect">
            <a:avLst/>
          </a:prstGeom>
          <a:solidFill>
            <a:srgbClr val="E9ECEF"/>
          </a:solidFill>
          <a:ln/>
        </p:spPr>
        <p:txBody>
          <a:bodyPr/>
          <a:lstStyle/>
          <a:p>
            <a:endParaRPr lang="en-US"/>
          </a:p>
        </p:txBody>
      </p:sp>
      <p:sp>
        <p:nvSpPr>
          <p:cNvPr id="15" name="Shape 12"/>
          <p:cNvSpPr/>
          <p:nvPr/>
        </p:nvSpPr>
        <p:spPr>
          <a:xfrm>
            <a:off x="4686300" y="734020"/>
            <a:ext cx="28575" cy="2721769"/>
          </a:xfrm>
          <a:prstGeom prst="rect">
            <a:avLst/>
          </a:prstGeom>
          <a:solidFill>
            <a:srgbClr val="0056B3"/>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4879181" y="791170"/>
            <a:ext cx="3714750" cy="2428875"/>
          </a:xfrm>
          <a:prstGeom prst="rect">
            <a:avLst/>
          </a:prstGeom>
        </p:spPr>
      </p:pic>
      <p:sp>
        <p:nvSpPr>
          <p:cNvPr id="17" name="Text 13"/>
          <p:cNvSpPr/>
          <p:nvPr/>
        </p:nvSpPr>
        <p:spPr>
          <a:xfrm>
            <a:off x="5762327" y="3262908"/>
            <a:ext cx="1948458" cy="150019"/>
          </a:xfrm>
          <a:prstGeom prst="rect">
            <a:avLst/>
          </a:prstGeom>
          <a:noFill/>
          <a:ln/>
        </p:spPr>
        <p:txBody>
          <a:bodyPr wrap="none" lIns="0" tIns="0" rIns="0" bIns="0" rtlCol="0" anchor="t">
            <a:spAutoFit/>
          </a:bodyPr>
          <a:lstStyle/>
          <a:p>
            <a:pPr marL="0" indent="0" algn="l">
              <a:lnSpc>
                <a:spcPct val="120000"/>
              </a:lnSpc>
              <a:buNone/>
            </a:pPr>
            <a:r>
              <a:rPr lang="en-US" sz="750" dirty="0">
                <a:solidFill>
                  <a:srgbClr val="6C757D"/>
                </a:solidFill>
                <a:latin typeface="Inter Light" pitchFamily="34" charset="0"/>
                <a:ea typeface="Inter Light" pitchFamily="34" charset="-122"/>
                <a:cs typeface="Inter Light" pitchFamily="34" charset="-120"/>
              </a:rPr>
              <a:t>Figure: Final Model Accuracy Comparison</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531" y="-7144"/>
            <a:ext cx="9144000" cy="5143500"/>
          </a:xfrm>
          <a:prstGeom prst="rect">
            <a:avLst/>
          </a:prstGeom>
        </p:spPr>
      </p:pic>
      <p:sp>
        <p:nvSpPr>
          <p:cNvPr id="3" name="Text 0"/>
          <p:cNvSpPr/>
          <p:nvPr/>
        </p:nvSpPr>
        <p:spPr>
          <a:xfrm>
            <a:off x="428625" y="278606"/>
            <a:ext cx="8715375" cy="276820"/>
          </a:xfrm>
          <a:prstGeom prst="rect">
            <a:avLst/>
          </a:prstGeom>
          <a:noFill/>
          <a:ln/>
        </p:spPr>
        <p:txBody>
          <a:bodyPr wrap="square" lIns="0" tIns="0" rIns="0" bIns="0" rtlCol="0" anchor="t">
            <a:spAutoFit/>
          </a:bodyPr>
          <a:lstStyle/>
          <a:p>
            <a:pPr marL="0" indent="0" algn="l">
              <a:buNone/>
            </a:pPr>
            <a:r>
              <a:rPr lang="en-US" sz="1700" dirty="0">
                <a:solidFill>
                  <a:srgbClr val="212529"/>
                </a:solidFill>
                <a:latin typeface="Inter Medium" pitchFamily="34" charset="0"/>
                <a:ea typeface="Inter Medium" pitchFamily="34" charset="-122"/>
                <a:cs typeface="Inter Medium" pitchFamily="34" charset="-120"/>
              </a:rPr>
              <a:t>Interpretability and Explainability</a:t>
            </a:r>
            <a:endParaRPr lang="en-US" sz="1700" dirty="0"/>
          </a:p>
        </p:txBody>
      </p:sp>
      <p:sp>
        <p:nvSpPr>
          <p:cNvPr id="4" name="Shape 1"/>
          <p:cNvSpPr/>
          <p:nvPr/>
        </p:nvSpPr>
        <p:spPr>
          <a:xfrm>
            <a:off x="428625" y="726877"/>
            <a:ext cx="3786188" cy="1458664"/>
          </a:xfrm>
          <a:prstGeom prst="rect">
            <a:avLst/>
          </a:prstGeom>
          <a:solidFill>
            <a:srgbClr val="E9ECEF"/>
          </a:solidFill>
          <a:ln/>
        </p:spPr>
        <p:txBody>
          <a:bodyPr/>
          <a:lstStyle/>
          <a:p>
            <a:endParaRPr lang="en-US"/>
          </a:p>
        </p:txBody>
      </p:sp>
      <p:sp>
        <p:nvSpPr>
          <p:cNvPr id="5" name="Shape 2"/>
          <p:cNvSpPr/>
          <p:nvPr/>
        </p:nvSpPr>
        <p:spPr>
          <a:xfrm>
            <a:off x="428625" y="726877"/>
            <a:ext cx="28575" cy="1458664"/>
          </a:xfrm>
          <a:prstGeom prst="rect">
            <a:avLst/>
          </a:prstGeom>
          <a:solidFill>
            <a:srgbClr val="0056B3"/>
          </a:solidFill>
          <a:ln/>
        </p:spPr>
        <p:txBody>
          <a:bodyPr/>
          <a:lstStyle/>
          <a:p>
            <a:endParaRPr lang="en-US"/>
          </a:p>
        </p:txBody>
      </p:sp>
      <p:sp>
        <p:nvSpPr>
          <p:cNvPr id="6" name="Text 3"/>
          <p:cNvSpPr/>
          <p:nvPr/>
        </p:nvSpPr>
        <p:spPr>
          <a:xfrm>
            <a:off x="557213" y="984052"/>
            <a:ext cx="3529013" cy="207169"/>
          </a:xfrm>
          <a:prstGeom prst="rect">
            <a:avLst/>
          </a:prstGeom>
          <a:noFill/>
          <a:ln/>
        </p:spPr>
        <p:txBody>
          <a:bodyPr wrap="square" lIns="0" tIns="0" rIns="0" bIns="0" rtlCol="0" anchor="t">
            <a:spAutoFit/>
          </a:bodyPr>
          <a:lstStyle/>
          <a:p>
            <a:pPr marL="0" indent="0" algn="l">
              <a:buNone/>
            </a:pPr>
            <a:r>
              <a:rPr lang="en-US" sz="1250" dirty="0">
                <a:solidFill>
                  <a:srgbClr val="0056B3"/>
                </a:solidFill>
                <a:latin typeface="Inter Medium" pitchFamily="34" charset="0"/>
                <a:ea typeface="Inter Medium" pitchFamily="34" charset="-122"/>
                <a:cs typeface="Inter Medium" pitchFamily="34" charset="-120"/>
              </a:rPr>
              <a:t>SHAP Methodology</a:t>
            </a:r>
            <a:endParaRPr lang="en-US" sz="1250" dirty="0"/>
          </a:p>
        </p:txBody>
      </p:sp>
      <p:sp>
        <p:nvSpPr>
          <p:cNvPr id="7" name="Text 4"/>
          <p:cNvSpPr/>
          <p:nvPr/>
        </p:nvSpPr>
        <p:spPr>
          <a:xfrm>
            <a:off x="557213" y="1276945"/>
            <a:ext cx="3529013" cy="822871"/>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495057"/>
                </a:solidFill>
                <a:latin typeface="Inter Light" pitchFamily="34" charset="0"/>
                <a:ea typeface="Inter Light" pitchFamily="34" charset="-122"/>
                <a:cs typeface="Inter Light" pitchFamily="34" charset="-120"/>
              </a:rPr>
              <a:t>SHAP (SHapley Additive exPlanations) leverages game theory to assign each feature an importance value for a particular prediction, ensuring local accuracy and consistency.</a:t>
            </a:r>
            <a:endParaRPr lang="en-US" sz="950" dirty="0"/>
          </a:p>
        </p:txBody>
      </p:sp>
      <p:sp>
        <p:nvSpPr>
          <p:cNvPr id="8" name="Shape 5"/>
          <p:cNvSpPr/>
          <p:nvPr/>
        </p:nvSpPr>
        <p:spPr>
          <a:xfrm>
            <a:off x="428625" y="2271266"/>
            <a:ext cx="3786188" cy="1252947"/>
          </a:xfrm>
          <a:prstGeom prst="rect">
            <a:avLst/>
          </a:prstGeom>
          <a:solidFill>
            <a:srgbClr val="E9ECEF"/>
          </a:solidFill>
          <a:ln/>
        </p:spPr>
        <p:txBody>
          <a:bodyPr/>
          <a:lstStyle/>
          <a:p>
            <a:endParaRPr lang="en-US"/>
          </a:p>
        </p:txBody>
      </p:sp>
      <p:sp>
        <p:nvSpPr>
          <p:cNvPr id="9" name="Shape 6"/>
          <p:cNvSpPr/>
          <p:nvPr/>
        </p:nvSpPr>
        <p:spPr>
          <a:xfrm>
            <a:off x="428625" y="2271266"/>
            <a:ext cx="28575" cy="1252947"/>
          </a:xfrm>
          <a:prstGeom prst="rect">
            <a:avLst/>
          </a:prstGeom>
          <a:solidFill>
            <a:srgbClr val="0056B3"/>
          </a:solidFill>
          <a:ln/>
        </p:spPr>
        <p:txBody>
          <a:bodyPr/>
          <a:lstStyle/>
          <a:p>
            <a:endParaRPr lang="en-US"/>
          </a:p>
        </p:txBody>
      </p:sp>
      <p:sp>
        <p:nvSpPr>
          <p:cNvPr id="10" name="Text 7"/>
          <p:cNvSpPr/>
          <p:nvPr/>
        </p:nvSpPr>
        <p:spPr>
          <a:xfrm>
            <a:off x="557213" y="2528441"/>
            <a:ext cx="3529013" cy="207169"/>
          </a:xfrm>
          <a:prstGeom prst="rect">
            <a:avLst/>
          </a:prstGeom>
          <a:noFill/>
          <a:ln/>
        </p:spPr>
        <p:txBody>
          <a:bodyPr wrap="square" lIns="0" tIns="0" rIns="0" bIns="0" rtlCol="0" anchor="t">
            <a:spAutoFit/>
          </a:bodyPr>
          <a:lstStyle/>
          <a:p>
            <a:pPr marL="0" indent="0" algn="l">
              <a:buNone/>
            </a:pPr>
            <a:r>
              <a:rPr lang="en-US" sz="1250" dirty="0">
                <a:solidFill>
                  <a:srgbClr val="0056B3"/>
                </a:solidFill>
                <a:latin typeface="Inter Medium" pitchFamily="34" charset="0"/>
                <a:ea typeface="Inter Medium" pitchFamily="34" charset="-122"/>
                <a:cs typeface="Inter Medium" pitchFamily="34" charset="-120"/>
              </a:rPr>
              <a:t>Application to XGBoost</a:t>
            </a:r>
            <a:endParaRPr lang="en-US" sz="1250" dirty="0"/>
          </a:p>
        </p:txBody>
      </p:sp>
      <p:sp>
        <p:nvSpPr>
          <p:cNvPr id="11" name="Text 8"/>
          <p:cNvSpPr/>
          <p:nvPr/>
        </p:nvSpPr>
        <p:spPr>
          <a:xfrm>
            <a:off x="557213" y="2821335"/>
            <a:ext cx="3529013" cy="617153"/>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495057"/>
                </a:solidFill>
                <a:latin typeface="Inter Light" pitchFamily="34" charset="0"/>
                <a:ea typeface="Inter Light" pitchFamily="34" charset="-122"/>
                <a:cs typeface="Inter Light" pitchFamily="34" charset="-120"/>
              </a:rPr>
              <a:t>By applying SHAP to the XGBoost model, we identify key linguistic markers and keywords that drive the classification of Egyptian tweets as 'Real' or 'Fake'.</a:t>
            </a:r>
            <a:endParaRPr lang="en-US" sz="950" dirty="0"/>
          </a:p>
        </p:txBody>
      </p:sp>
      <p:sp>
        <p:nvSpPr>
          <p:cNvPr id="12" name="Shape 9"/>
          <p:cNvSpPr/>
          <p:nvPr/>
        </p:nvSpPr>
        <p:spPr>
          <a:xfrm>
            <a:off x="4500563" y="726877"/>
            <a:ext cx="4214813" cy="3680064"/>
          </a:xfrm>
          <a:prstGeom prst="rect">
            <a:avLst/>
          </a:prstGeom>
          <a:solidFill>
            <a:srgbClr val="FFFFFF"/>
          </a:solidFill>
          <a:ln/>
        </p:spPr>
        <p:txBody>
          <a:bodyPr/>
          <a:lstStyle/>
          <a:p>
            <a:endParaRPr lang="en-US"/>
          </a:p>
        </p:txBody>
      </p:sp>
      <p:sp>
        <p:nvSpPr>
          <p:cNvPr id="13" name="Shape 10"/>
          <p:cNvSpPr/>
          <p:nvPr/>
        </p:nvSpPr>
        <p:spPr>
          <a:xfrm>
            <a:off x="4500563" y="726877"/>
            <a:ext cx="4214813" cy="14288"/>
          </a:xfrm>
          <a:prstGeom prst="rect">
            <a:avLst/>
          </a:prstGeom>
          <a:solidFill>
            <a:srgbClr val="0056B3"/>
          </a:solidFill>
          <a:ln/>
        </p:spPr>
        <p:txBody>
          <a:bodyPr/>
          <a:lstStyle/>
          <a:p>
            <a:endParaRPr lang="en-US"/>
          </a:p>
        </p:txBody>
      </p:sp>
      <p:sp>
        <p:nvSpPr>
          <p:cNvPr id="14" name="Shape 11"/>
          <p:cNvSpPr/>
          <p:nvPr/>
        </p:nvSpPr>
        <p:spPr>
          <a:xfrm>
            <a:off x="4814888" y="869752"/>
            <a:ext cx="3586163" cy="2264569"/>
          </a:xfrm>
          <a:prstGeom prst="rect">
            <a:avLst/>
          </a:prstGeom>
          <a:solidFill>
            <a:srgbClr val="F1F3F5"/>
          </a:solidFill>
          <a:ln w="9144">
            <a:solidFill>
              <a:srgbClr val="DEE2E6"/>
            </a:solidFill>
            <a:prstDash val="dash"/>
          </a:ln>
        </p:spPr>
        <p:txBody>
          <a:bodyPr/>
          <a:lstStyle/>
          <a:p>
            <a:endParaRPr lang="en-US"/>
          </a:p>
        </p:txBody>
      </p:sp>
      <p:sp>
        <p:nvSpPr>
          <p:cNvPr id="15" name="Text 12"/>
          <p:cNvSpPr/>
          <p:nvPr/>
        </p:nvSpPr>
        <p:spPr>
          <a:xfrm>
            <a:off x="4814888" y="869752"/>
            <a:ext cx="3586163" cy="2264569"/>
          </a:xfrm>
          <a:prstGeom prst="rect">
            <a:avLst/>
          </a:prstGeom>
          <a:noFill/>
          <a:ln/>
        </p:spPr>
        <p:txBody>
          <a:bodyPr wrap="square" lIns="0" tIns="0" rIns="0" bIns="0" rtlCol="0" anchor="ctr">
            <a:spAutoFit/>
          </a:bodyPr>
          <a:lstStyle/>
          <a:p>
            <a:pPr marL="0" indent="0" algn="ctr">
              <a:buNone/>
            </a:pPr>
            <a:r>
              <a:rPr lang="en-US" sz="850" dirty="0">
                <a:solidFill>
                  <a:srgbClr val="ADB5BD"/>
                </a:solidFill>
                <a:latin typeface="Inter Light" pitchFamily="34" charset="0"/>
                <a:ea typeface="Inter Light" pitchFamily="34" charset="-122"/>
                <a:cs typeface="Inter Light" pitchFamily="34" charset="-120"/>
              </a:rPr>
              <a:t>[SHAP Beeswarm/Summary Plot Visualization]</a:t>
            </a:r>
            <a:endParaRPr lang="en-US" sz="850" dirty="0"/>
          </a:p>
        </p:txBody>
      </p:sp>
      <p:sp>
        <p:nvSpPr>
          <p:cNvPr id="16" name="Text 13"/>
          <p:cNvSpPr/>
          <p:nvPr/>
        </p:nvSpPr>
        <p:spPr>
          <a:xfrm>
            <a:off x="4714875" y="3120033"/>
            <a:ext cx="3786188" cy="405743"/>
          </a:xfrm>
          <a:prstGeom prst="rect">
            <a:avLst/>
          </a:prstGeom>
          <a:noFill/>
          <a:ln/>
        </p:spPr>
        <p:txBody>
          <a:bodyPr wrap="square" lIns="0" tIns="102108" rIns="0" bIns="0" rtlCol="0" anchor="t">
            <a:spAutoFit/>
          </a:bodyPr>
          <a:lstStyle/>
          <a:p>
            <a:pPr marL="0" indent="0" algn="ctr">
              <a:lnSpc>
                <a:spcPct val="128000"/>
              </a:lnSpc>
              <a:buNone/>
            </a:pPr>
            <a:r>
              <a:rPr lang="en-US" sz="750" i="1" dirty="0">
                <a:solidFill>
                  <a:srgbClr val="495057"/>
                </a:solidFill>
                <a:latin typeface="Inter Light" pitchFamily="34" charset="0"/>
                <a:ea typeface="Inter Light" pitchFamily="34" charset="-122"/>
                <a:cs typeface="Inter Light" pitchFamily="34" charset="-120"/>
              </a:rPr>
              <a:t>Figure: Global feature importance revealing top keywords influencing model decisions.</a:t>
            </a:r>
            <a:endParaRPr lang="en-US" sz="750" dirty="0"/>
          </a:p>
        </p:txBody>
      </p:sp>
      <p:sp>
        <p:nvSpPr>
          <p:cNvPr id="17" name="Text 14"/>
          <p:cNvSpPr/>
          <p:nvPr/>
        </p:nvSpPr>
        <p:spPr>
          <a:xfrm>
            <a:off x="5218509" y="3611500"/>
            <a:ext cx="2778919" cy="182863"/>
          </a:xfrm>
          <a:prstGeom prst="rect">
            <a:avLst/>
          </a:prstGeom>
          <a:noFill/>
          <a:ln/>
        </p:spPr>
        <p:txBody>
          <a:bodyPr wrap="none" lIns="0" tIns="0" rIns="0" bIns="0" rtlCol="0" anchor="t">
            <a:spAutoFit/>
          </a:bodyPr>
          <a:lstStyle/>
          <a:p>
            <a:pPr marL="0" indent="0" algn="l">
              <a:lnSpc>
                <a:spcPct val="128000"/>
              </a:lnSpc>
              <a:buNone/>
            </a:pPr>
            <a:r>
              <a:rPr lang="en-US" sz="850" dirty="0">
                <a:solidFill>
                  <a:srgbClr val="212529"/>
                </a:solidFill>
                <a:latin typeface="Inter Medium" pitchFamily="34" charset="0"/>
                <a:ea typeface="Inter Medium" pitchFamily="34" charset="-122"/>
                <a:cs typeface="Inter Medium" pitchFamily="34" charset="-120"/>
              </a:rPr>
              <a:t>Key Insights:</a:t>
            </a:r>
            <a:endParaRPr lang="en-US" sz="850" dirty="0"/>
          </a:p>
        </p:txBody>
      </p:sp>
      <p:sp>
        <p:nvSpPr>
          <p:cNvPr id="18" name="Text 15"/>
          <p:cNvSpPr/>
          <p:nvPr/>
        </p:nvSpPr>
        <p:spPr>
          <a:xfrm>
            <a:off x="5361384" y="3837226"/>
            <a:ext cx="2636044" cy="137517"/>
          </a:xfrm>
          <a:prstGeom prst="rect">
            <a:avLst/>
          </a:prstGeom>
          <a:noFill/>
          <a:ln/>
        </p:spPr>
        <p:txBody>
          <a:bodyPr wrap="square" lIns="0" tIns="0" rIns="0" bIns="0" rtlCol="0" anchor="t">
            <a:spAutoFit/>
          </a:bodyPr>
          <a:lstStyle/>
          <a:p>
            <a:pPr marL="127000" indent="-127000" algn="l">
              <a:buSzPct val="100000"/>
              <a:buChar char="•"/>
            </a:pPr>
            <a:r>
              <a:rPr lang="en-US" sz="850" dirty="0">
                <a:solidFill>
                  <a:srgbClr val="495057"/>
                </a:solidFill>
                <a:latin typeface="Inter Light" pitchFamily="34" charset="0"/>
                <a:ea typeface="Inter Light" pitchFamily="34" charset="-122"/>
                <a:cs typeface="Inter Light" pitchFamily="34" charset="-120"/>
              </a:rPr>
              <a:t>Identifies high-impact dialectal terms.</a:t>
            </a:r>
            <a:endParaRPr lang="en-US" sz="850" dirty="0"/>
          </a:p>
        </p:txBody>
      </p:sp>
      <p:sp>
        <p:nvSpPr>
          <p:cNvPr id="19" name="Text 16"/>
          <p:cNvSpPr/>
          <p:nvPr/>
        </p:nvSpPr>
        <p:spPr>
          <a:xfrm>
            <a:off x="5361384" y="4017606"/>
            <a:ext cx="2636044" cy="137517"/>
          </a:xfrm>
          <a:prstGeom prst="rect">
            <a:avLst/>
          </a:prstGeom>
          <a:noFill/>
          <a:ln/>
        </p:spPr>
        <p:txBody>
          <a:bodyPr wrap="square" lIns="0" tIns="0" rIns="0" bIns="0" rtlCol="0" anchor="t">
            <a:spAutoFit/>
          </a:bodyPr>
          <a:lstStyle/>
          <a:p>
            <a:pPr marL="127000" indent="-127000" algn="l">
              <a:buSzPct val="100000"/>
              <a:buChar char="•"/>
            </a:pPr>
            <a:r>
              <a:rPr lang="en-US" sz="850" dirty="0">
                <a:solidFill>
                  <a:srgbClr val="495057"/>
                </a:solidFill>
                <a:latin typeface="Inter Light" pitchFamily="34" charset="0"/>
                <a:ea typeface="Inter Light" pitchFamily="34" charset="-122"/>
                <a:cs typeface="Inter Light" pitchFamily="34" charset="-120"/>
              </a:rPr>
              <a:t>Visualizes positive/negative feature contributions.</a:t>
            </a:r>
            <a:endParaRPr lang="en-US" sz="850" dirty="0"/>
          </a:p>
        </p:txBody>
      </p:sp>
      <p:sp>
        <p:nvSpPr>
          <p:cNvPr id="20" name="Text 17"/>
          <p:cNvSpPr/>
          <p:nvPr/>
        </p:nvSpPr>
        <p:spPr>
          <a:xfrm>
            <a:off x="5361384" y="4197986"/>
            <a:ext cx="2636044" cy="137517"/>
          </a:xfrm>
          <a:prstGeom prst="rect">
            <a:avLst/>
          </a:prstGeom>
          <a:noFill/>
          <a:ln/>
        </p:spPr>
        <p:txBody>
          <a:bodyPr wrap="square" lIns="0" tIns="0" rIns="0" bIns="0" rtlCol="0" anchor="t">
            <a:spAutoFit/>
          </a:bodyPr>
          <a:lstStyle/>
          <a:p>
            <a:pPr marL="127000" indent="-127000" algn="l">
              <a:buSzPct val="100000"/>
              <a:buChar char="•"/>
            </a:pPr>
            <a:r>
              <a:rPr lang="en-US" sz="850" dirty="0">
                <a:solidFill>
                  <a:srgbClr val="495057"/>
                </a:solidFill>
                <a:latin typeface="Inter Light" pitchFamily="34" charset="0"/>
                <a:ea typeface="Inter Light" pitchFamily="34" charset="-122"/>
                <a:cs typeface="Inter Light" pitchFamily="34" charset="-120"/>
              </a:rPr>
              <a:t>Enhances model transparency and user trust.</a:t>
            </a:r>
            <a:endParaRPr lang="en-US" sz="850" dirty="0"/>
          </a:p>
        </p:txBody>
      </p:sp>
      <p:pic>
        <p:nvPicPr>
          <p:cNvPr id="24" name="Picture 23">
            <a:extLst>
              <a:ext uri="{FF2B5EF4-FFF2-40B4-BE49-F238E27FC236}">
                <a16:creationId xmlns:a16="http://schemas.microsoft.com/office/drawing/2014/main" id="{DB4143C5-FDF3-A235-F5B8-827751EEEE39}"/>
              </a:ext>
            </a:extLst>
          </p:cNvPr>
          <p:cNvPicPr>
            <a:picLocks noChangeAspect="1"/>
          </p:cNvPicPr>
          <p:nvPr/>
        </p:nvPicPr>
        <p:blipFill>
          <a:blip r:embed="rId4"/>
          <a:stretch>
            <a:fillRect/>
          </a:stretch>
        </p:blipFill>
        <p:spPr>
          <a:xfrm>
            <a:off x="4814887" y="841176"/>
            <a:ext cx="3586164" cy="229314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7144"/>
            <a:ext cx="9144000" cy="5143500"/>
          </a:xfrm>
          <a:prstGeom prst="rect">
            <a:avLst/>
          </a:prstGeom>
        </p:spPr>
      </p:pic>
      <p:sp>
        <p:nvSpPr>
          <p:cNvPr id="3" name="Text 0"/>
          <p:cNvSpPr/>
          <p:nvPr/>
        </p:nvSpPr>
        <p:spPr>
          <a:xfrm>
            <a:off x="428625" y="278606"/>
            <a:ext cx="8715375" cy="276820"/>
          </a:xfrm>
          <a:prstGeom prst="rect">
            <a:avLst/>
          </a:prstGeom>
          <a:noFill/>
          <a:ln/>
        </p:spPr>
        <p:txBody>
          <a:bodyPr wrap="square" lIns="0" tIns="0" rIns="0" bIns="0" rtlCol="0" anchor="t">
            <a:spAutoFit/>
          </a:bodyPr>
          <a:lstStyle/>
          <a:p>
            <a:pPr marL="0" indent="0" algn="l">
              <a:buNone/>
            </a:pPr>
            <a:r>
              <a:rPr lang="en-US" sz="1700" dirty="0">
                <a:solidFill>
                  <a:srgbClr val="212529"/>
                </a:solidFill>
                <a:latin typeface="Inter Medium" pitchFamily="34" charset="0"/>
                <a:ea typeface="Inter Medium" pitchFamily="34" charset="-122"/>
                <a:cs typeface="Inter Medium" pitchFamily="34" charset="-120"/>
              </a:rPr>
              <a:t>Project Workflow</a:t>
            </a:r>
            <a:endParaRPr lang="en-US" sz="1700" dirty="0"/>
          </a:p>
        </p:txBody>
      </p:sp>
      <p:sp>
        <p:nvSpPr>
          <p:cNvPr id="4" name="Shape 1"/>
          <p:cNvSpPr/>
          <p:nvPr/>
        </p:nvSpPr>
        <p:spPr>
          <a:xfrm>
            <a:off x="428625" y="698302"/>
            <a:ext cx="2828925" cy="3021583"/>
          </a:xfrm>
          <a:prstGeom prst="rect">
            <a:avLst/>
          </a:prstGeom>
          <a:solidFill>
            <a:srgbClr val="E9ECEF"/>
          </a:solidFill>
          <a:ln/>
        </p:spPr>
        <p:txBody>
          <a:bodyPr/>
          <a:lstStyle/>
          <a:p>
            <a:endParaRPr lang="en-US"/>
          </a:p>
        </p:txBody>
      </p:sp>
      <p:sp>
        <p:nvSpPr>
          <p:cNvPr id="5" name="Shape 2"/>
          <p:cNvSpPr/>
          <p:nvPr/>
        </p:nvSpPr>
        <p:spPr>
          <a:xfrm>
            <a:off x="428625" y="698302"/>
            <a:ext cx="28575" cy="3021583"/>
          </a:xfrm>
          <a:prstGeom prst="rect">
            <a:avLst/>
          </a:prstGeom>
          <a:solidFill>
            <a:srgbClr val="0056B3"/>
          </a:solidFill>
          <a:ln/>
        </p:spPr>
        <p:txBody>
          <a:bodyPr/>
          <a:lstStyle/>
          <a:p>
            <a:endParaRPr lang="en-US"/>
          </a:p>
        </p:txBody>
      </p:sp>
      <p:sp>
        <p:nvSpPr>
          <p:cNvPr id="6" name="Text 3"/>
          <p:cNvSpPr/>
          <p:nvPr/>
        </p:nvSpPr>
        <p:spPr>
          <a:xfrm>
            <a:off x="571500" y="984052"/>
            <a:ext cx="2524116" cy="207169"/>
          </a:xfrm>
          <a:prstGeom prst="rect">
            <a:avLst/>
          </a:prstGeom>
          <a:noFill/>
          <a:ln/>
        </p:spPr>
        <p:txBody>
          <a:bodyPr wrap="square" lIns="0" tIns="0" rIns="0" bIns="0" rtlCol="0" anchor="t">
            <a:spAutoFit/>
          </a:bodyPr>
          <a:lstStyle/>
          <a:p>
            <a:pPr marL="0" indent="0" algn="l">
              <a:buNone/>
            </a:pPr>
            <a:r>
              <a:rPr lang="en-US" sz="1250" dirty="0">
                <a:solidFill>
                  <a:srgbClr val="0056B3"/>
                </a:solidFill>
                <a:latin typeface="Inter Medium" pitchFamily="34" charset="0"/>
                <a:ea typeface="Inter Medium" pitchFamily="34" charset="-122"/>
                <a:cs typeface="Inter Medium" pitchFamily="34" charset="-120"/>
              </a:rPr>
              <a:t>End-to-End Pipeline</a:t>
            </a:r>
            <a:endParaRPr lang="en-US" sz="1250" dirty="0"/>
          </a:p>
        </p:txBody>
      </p:sp>
      <p:sp>
        <p:nvSpPr>
          <p:cNvPr id="7" name="Text 4"/>
          <p:cNvSpPr/>
          <p:nvPr/>
        </p:nvSpPr>
        <p:spPr>
          <a:xfrm>
            <a:off x="571500" y="1319808"/>
            <a:ext cx="2524116" cy="617153"/>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495057"/>
                </a:solidFill>
                <a:latin typeface="Inter Light" pitchFamily="34" charset="0"/>
                <a:ea typeface="Inter Light" pitchFamily="34" charset="-122"/>
                <a:cs typeface="Inter Light" pitchFamily="34" charset="-120"/>
              </a:rPr>
              <a:t>The workflow begins with raw Egyptian Arabic tweet collection, followed by rigorous dialect-specific preprocessing.</a:t>
            </a:r>
            <a:endParaRPr lang="en-US" sz="950" dirty="0"/>
          </a:p>
        </p:txBody>
      </p:sp>
      <p:sp>
        <p:nvSpPr>
          <p:cNvPr id="8" name="Text 5"/>
          <p:cNvSpPr/>
          <p:nvPr/>
        </p:nvSpPr>
        <p:spPr>
          <a:xfrm>
            <a:off x="571500" y="2065548"/>
            <a:ext cx="2524116" cy="822871"/>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495057"/>
                </a:solidFill>
                <a:latin typeface="Inter Light" pitchFamily="34" charset="0"/>
                <a:ea typeface="Inter Light" pitchFamily="34" charset="-122"/>
                <a:cs typeface="Inter Light" pitchFamily="34" charset="-120"/>
              </a:rPr>
              <a:t>Features are extracted using both statistical (TF-IDF) and semantic (Word2Vec) methods before being fed into diverse model architectures.</a:t>
            </a:r>
            <a:endParaRPr lang="en-US" sz="950" dirty="0"/>
          </a:p>
        </p:txBody>
      </p:sp>
      <p:sp>
        <p:nvSpPr>
          <p:cNvPr id="9" name="Text 6"/>
          <p:cNvSpPr/>
          <p:nvPr/>
        </p:nvSpPr>
        <p:spPr>
          <a:xfrm>
            <a:off x="571500" y="3017007"/>
            <a:ext cx="2524116" cy="617153"/>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495057"/>
                </a:solidFill>
                <a:latin typeface="Inter Light" pitchFamily="34" charset="0"/>
                <a:ea typeface="Inter Light" pitchFamily="34" charset="-122"/>
                <a:cs typeface="Inter Light" pitchFamily="34" charset="-120"/>
              </a:rPr>
              <a:t>The final stage involves comprehensive evaluation and interpretability analysis using SHAP values.</a:t>
            </a:r>
            <a:endParaRPr lang="en-US" sz="950" dirty="0"/>
          </a:p>
        </p:txBody>
      </p:sp>
      <p:sp>
        <p:nvSpPr>
          <p:cNvPr id="10" name="Shape 7"/>
          <p:cNvSpPr/>
          <p:nvPr/>
        </p:nvSpPr>
        <p:spPr>
          <a:xfrm>
            <a:off x="3438516" y="698302"/>
            <a:ext cx="5276859" cy="3557588"/>
          </a:xfrm>
          <a:prstGeom prst="rect">
            <a:avLst/>
          </a:prstGeom>
          <a:solidFill>
            <a:srgbClr val="FFFFFF"/>
          </a:solidFill>
          <a:ln/>
        </p:spPr>
        <p:txBody>
          <a:bodyPr/>
          <a:lstStyle/>
          <a:p>
            <a:endParaRPr lang="en-US"/>
          </a:p>
        </p:txBody>
      </p:sp>
      <p:sp>
        <p:nvSpPr>
          <p:cNvPr id="11" name="Shape 8"/>
          <p:cNvSpPr/>
          <p:nvPr/>
        </p:nvSpPr>
        <p:spPr>
          <a:xfrm>
            <a:off x="3438516" y="698302"/>
            <a:ext cx="5276859" cy="14288"/>
          </a:xfrm>
          <a:prstGeom prst="rect">
            <a:avLst/>
          </a:prstGeom>
          <a:solidFill>
            <a:srgbClr val="0056B3"/>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3576619" y="812602"/>
            <a:ext cx="5000625" cy="3429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285750"/>
            <a:ext cx="8715375" cy="276820"/>
          </a:xfrm>
          <a:prstGeom prst="rect">
            <a:avLst/>
          </a:prstGeom>
          <a:noFill/>
          <a:ln/>
        </p:spPr>
        <p:txBody>
          <a:bodyPr wrap="square" lIns="0" tIns="0" rIns="0" bIns="0" rtlCol="0" anchor="t">
            <a:spAutoFit/>
          </a:bodyPr>
          <a:lstStyle/>
          <a:p>
            <a:pPr marL="0" indent="0" algn="l">
              <a:buNone/>
            </a:pPr>
            <a:r>
              <a:rPr lang="en-US" sz="1700" dirty="0">
                <a:solidFill>
                  <a:srgbClr val="212529"/>
                </a:solidFill>
                <a:latin typeface="Inter Medium" pitchFamily="34" charset="0"/>
                <a:ea typeface="Inter Medium" pitchFamily="34" charset="-122"/>
                <a:cs typeface="Inter Medium" pitchFamily="34" charset="-120"/>
              </a:rPr>
              <a:t>Conclusion and Future Work</a:t>
            </a:r>
            <a:endParaRPr lang="en-US" sz="1700" dirty="0"/>
          </a:p>
        </p:txBody>
      </p:sp>
      <p:sp>
        <p:nvSpPr>
          <p:cNvPr id="4" name="Shape 1"/>
          <p:cNvSpPr/>
          <p:nvPr/>
        </p:nvSpPr>
        <p:spPr>
          <a:xfrm>
            <a:off x="357188" y="791170"/>
            <a:ext cx="4107656" cy="2971800"/>
          </a:xfrm>
          <a:prstGeom prst="rect">
            <a:avLst/>
          </a:prstGeom>
          <a:solidFill>
            <a:srgbClr val="E9ECEF"/>
          </a:solidFill>
          <a:ln/>
        </p:spPr>
        <p:txBody>
          <a:bodyPr/>
          <a:lstStyle/>
          <a:p>
            <a:endParaRPr lang="en-US"/>
          </a:p>
        </p:txBody>
      </p:sp>
      <p:sp>
        <p:nvSpPr>
          <p:cNvPr id="5" name="Shape 2"/>
          <p:cNvSpPr/>
          <p:nvPr/>
        </p:nvSpPr>
        <p:spPr>
          <a:xfrm>
            <a:off x="357188" y="791170"/>
            <a:ext cx="28575" cy="2971800"/>
          </a:xfrm>
          <a:prstGeom prst="rect">
            <a:avLst/>
          </a:prstGeom>
          <a:solidFill>
            <a:srgbClr val="0056B3"/>
          </a:solidFill>
          <a:ln/>
        </p:spPr>
        <p:txBody>
          <a:bodyPr/>
          <a:lstStyle/>
          <a:p>
            <a:endParaRPr lang="en-US"/>
          </a:p>
        </p:txBody>
      </p:sp>
      <p:sp>
        <p:nvSpPr>
          <p:cNvPr id="6" name="Text 3"/>
          <p:cNvSpPr/>
          <p:nvPr/>
        </p:nvSpPr>
        <p:spPr>
          <a:xfrm>
            <a:off x="500063" y="1076920"/>
            <a:ext cx="3807619" cy="207169"/>
          </a:xfrm>
          <a:prstGeom prst="rect">
            <a:avLst/>
          </a:prstGeom>
          <a:noFill/>
          <a:ln/>
        </p:spPr>
        <p:txBody>
          <a:bodyPr wrap="square" lIns="0" tIns="0" rIns="0" bIns="0" rtlCol="0" anchor="t">
            <a:spAutoFit/>
          </a:bodyPr>
          <a:lstStyle/>
          <a:p>
            <a:pPr marL="0" indent="0" algn="l">
              <a:buNone/>
            </a:pPr>
            <a:r>
              <a:rPr lang="en-US" sz="1250" dirty="0">
                <a:solidFill>
                  <a:srgbClr val="0056B3"/>
                </a:solidFill>
                <a:latin typeface="Inter Medium" pitchFamily="34" charset="0"/>
                <a:ea typeface="Inter Medium" pitchFamily="34" charset="-122"/>
                <a:cs typeface="Inter Medium" pitchFamily="34" charset="-120"/>
              </a:rPr>
              <a:t>Summary of Findings</a:t>
            </a:r>
            <a:endParaRPr lang="en-US" sz="1250" dirty="0"/>
          </a:p>
        </p:txBody>
      </p:sp>
      <p:sp>
        <p:nvSpPr>
          <p:cNvPr id="7" name="Text 4"/>
          <p:cNvSpPr/>
          <p:nvPr/>
        </p:nvSpPr>
        <p:spPr>
          <a:xfrm>
            <a:off x="628650" y="1398389"/>
            <a:ext cx="3679031" cy="385763"/>
          </a:xfrm>
          <a:prstGeom prst="rect">
            <a:avLst/>
          </a:prstGeom>
          <a:noFill/>
          <a:ln/>
        </p:spPr>
        <p:txBody>
          <a:bodyPr wrap="square" lIns="0" tIns="0" rIns="0" bIns="0" rtlCol="0" anchor="t">
            <a:spAutoFit/>
          </a:bodyPr>
          <a:lstStyle/>
          <a:p>
            <a:pPr marL="127000" indent="-127000" algn="l">
              <a:lnSpc>
                <a:spcPct val="120000"/>
              </a:lnSpc>
              <a:buSzPct val="100000"/>
              <a:buChar char="•"/>
            </a:pPr>
            <a:r>
              <a:rPr lang="en-US" sz="950" dirty="0">
                <a:solidFill>
                  <a:srgbClr val="212529"/>
                </a:solidFill>
                <a:latin typeface="Inter Medium" pitchFamily="34" charset="0"/>
                <a:ea typeface="Inter Medium" pitchFamily="34" charset="-122"/>
                <a:cs typeface="Inter Medium" pitchFamily="34" charset="-120"/>
              </a:rPr>
              <a:t>Model Efficacy:</a:t>
            </a:r>
            <a:r>
              <a:rPr lang="en-US" sz="950" dirty="0">
                <a:solidFill>
                  <a:srgbClr val="495057"/>
                </a:solidFill>
                <a:latin typeface="Inter Light" pitchFamily="34" charset="0"/>
                <a:ea typeface="Inter Light" pitchFamily="34" charset="-122"/>
                <a:cs typeface="Inter Light" pitchFamily="34" charset="-120"/>
              </a:rPr>
              <a:t> Successfully compared XGBoost, AraBERT, and BiLSTM for Egyptian Arabic fake news detection.</a:t>
            </a:r>
            <a:endParaRPr lang="en-US" sz="950" dirty="0"/>
          </a:p>
        </p:txBody>
      </p:sp>
      <p:sp>
        <p:nvSpPr>
          <p:cNvPr id="8" name="Text 5"/>
          <p:cNvSpPr/>
          <p:nvPr/>
        </p:nvSpPr>
        <p:spPr>
          <a:xfrm>
            <a:off x="628650" y="1855589"/>
            <a:ext cx="3679031" cy="578644"/>
          </a:xfrm>
          <a:prstGeom prst="rect">
            <a:avLst/>
          </a:prstGeom>
          <a:noFill/>
          <a:ln/>
        </p:spPr>
        <p:txBody>
          <a:bodyPr wrap="square" lIns="0" tIns="0" rIns="0" bIns="0" rtlCol="0" anchor="t">
            <a:spAutoFit/>
          </a:bodyPr>
          <a:lstStyle/>
          <a:p>
            <a:pPr marL="127000" indent="-127000" algn="l">
              <a:lnSpc>
                <a:spcPct val="120000"/>
              </a:lnSpc>
              <a:buSzPct val="100000"/>
              <a:buChar char="•"/>
            </a:pPr>
            <a:r>
              <a:rPr lang="en-US" sz="950" dirty="0">
                <a:solidFill>
                  <a:srgbClr val="212529"/>
                </a:solidFill>
                <a:latin typeface="Inter Medium" pitchFamily="34" charset="0"/>
                <a:ea typeface="Inter Medium" pitchFamily="34" charset="-122"/>
                <a:cs typeface="Inter Medium" pitchFamily="34" charset="-120"/>
              </a:rPr>
              <a:t>Performance:</a:t>
            </a:r>
            <a:r>
              <a:rPr lang="en-US" sz="950" dirty="0">
                <a:solidFill>
                  <a:srgbClr val="495057"/>
                </a:solidFill>
                <a:latin typeface="Inter Light" pitchFamily="34" charset="0"/>
                <a:ea typeface="Inter Light" pitchFamily="34" charset="-122"/>
                <a:cs typeface="Inter Light" pitchFamily="34" charset="-120"/>
              </a:rPr>
              <a:t> XGBoost achieved a peak accuracy of 91.24%, demonstrating the power of statistical features in dialectal contexts.</a:t>
            </a:r>
            <a:endParaRPr lang="en-US" sz="950" dirty="0"/>
          </a:p>
        </p:txBody>
      </p:sp>
      <p:sp>
        <p:nvSpPr>
          <p:cNvPr id="9" name="Text 6"/>
          <p:cNvSpPr/>
          <p:nvPr/>
        </p:nvSpPr>
        <p:spPr>
          <a:xfrm>
            <a:off x="628650" y="2505670"/>
            <a:ext cx="3679031" cy="385763"/>
          </a:xfrm>
          <a:prstGeom prst="rect">
            <a:avLst/>
          </a:prstGeom>
          <a:noFill/>
          <a:ln/>
        </p:spPr>
        <p:txBody>
          <a:bodyPr wrap="square" lIns="0" tIns="0" rIns="0" bIns="0" rtlCol="0" anchor="t">
            <a:spAutoFit/>
          </a:bodyPr>
          <a:lstStyle/>
          <a:p>
            <a:pPr marL="127000" indent="-127000" algn="l">
              <a:lnSpc>
                <a:spcPct val="120000"/>
              </a:lnSpc>
              <a:buSzPct val="100000"/>
              <a:buChar char="•"/>
            </a:pPr>
            <a:r>
              <a:rPr lang="en-US" sz="950" dirty="0">
                <a:solidFill>
                  <a:srgbClr val="212529"/>
                </a:solidFill>
                <a:latin typeface="Inter Medium" pitchFamily="34" charset="0"/>
                <a:ea typeface="Inter Medium" pitchFamily="34" charset="-122"/>
                <a:cs typeface="Inter Medium" pitchFamily="34" charset="-120"/>
              </a:rPr>
              <a:t>Interpretability:</a:t>
            </a:r>
            <a:r>
              <a:rPr lang="en-US" sz="950" dirty="0">
                <a:solidFill>
                  <a:srgbClr val="495057"/>
                </a:solidFill>
                <a:latin typeface="Inter Light" pitchFamily="34" charset="0"/>
                <a:ea typeface="Inter Light" pitchFamily="34" charset="-122"/>
                <a:cs typeface="Inter Light" pitchFamily="34" charset="-120"/>
              </a:rPr>
              <a:t> SHAP analysis provided crucial insights into model decision-making, identifying key dialectal markers.</a:t>
            </a:r>
            <a:endParaRPr lang="en-US" sz="950" dirty="0"/>
          </a:p>
        </p:txBody>
      </p:sp>
      <p:sp>
        <p:nvSpPr>
          <p:cNvPr id="10" name="Shape 7"/>
          <p:cNvSpPr/>
          <p:nvPr/>
        </p:nvSpPr>
        <p:spPr>
          <a:xfrm>
            <a:off x="4664869" y="791170"/>
            <a:ext cx="4121944" cy="2971800"/>
          </a:xfrm>
          <a:prstGeom prst="rect">
            <a:avLst/>
          </a:prstGeom>
          <a:solidFill>
            <a:srgbClr val="E9ECEF"/>
          </a:solidFill>
          <a:ln/>
        </p:spPr>
        <p:txBody>
          <a:bodyPr/>
          <a:lstStyle/>
          <a:p>
            <a:endParaRPr lang="en-US"/>
          </a:p>
        </p:txBody>
      </p:sp>
      <p:sp>
        <p:nvSpPr>
          <p:cNvPr id="11" name="Shape 8"/>
          <p:cNvSpPr/>
          <p:nvPr/>
        </p:nvSpPr>
        <p:spPr>
          <a:xfrm>
            <a:off x="4664869" y="791170"/>
            <a:ext cx="28575" cy="2971800"/>
          </a:xfrm>
          <a:prstGeom prst="rect">
            <a:avLst/>
          </a:prstGeom>
          <a:solidFill>
            <a:srgbClr val="0056B3"/>
          </a:solidFill>
          <a:ln/>
        </p:spPr>
        <p:txBody>
          <a:bodyPr/>
          <a:lstStyle/>
          <a:p>
            <a:endParaRPr lang="en-US"/>
          </a:p>
        </p:txBody>
      </p:sp>
      <p:sp>
        <p:nvSpPr>
          <p:cNvPr id="12" name="Text 9"/>
          <p:cNvSpPr/>
          <p:nvPr/>
        </p:nvSpPr>
        <p:spPr>
          <a:xfrm>
            <a:off x="4822031" y="1076920"/>
            <a:ext cx="3821906" cy="207169"/>
          </a:xfrm>
          <a:prstGeom prst="rect">
            <a:avLst/>
          </a:prstGeom>
          <a:noFill/>
          <a:ln/>
        </p:spPr>
        <p:txBody>
          <a:bodyPr wrap="square" lIns="0" tIns="0" rIns="0" bIns="0" rtlCol="0" anchor="t">
            <a:spAutoFit/>
          </a:bodyPr>
          <a:lstStyle/>
          <a:p>
            <a:pPr marL="0" indent="0" algn="l">
              <a:buNone/>
            </a:pPr>
            <a:r>
              <a:rPr lang="en-US" sz="1250" dirty="0">
                <a:solidFill>
                  <a:srgbClr val="0056B3"/>
                </a:solidFill>
                <a:latin typeface="Inter Medium" pitchFamily="34" charset="0"/>
                <a:ea typeface="Inter Medium" pitchFamily="34" charset="-122"/>
                <a:cs typeface="Inter Medium" pitchFamily="34" charset="-120"/>
              </a:rPr>
              <a:t>Future Directions</a:t>
            </a:r>
            <a:endParaRPr lang="en-US" sz="1250" dirty="0"/>
          </a:p>
        </p:txBody>
      </p:sp>
      <p:sp>
        <p:nvSpPr>
          <p:cNvPr id="13" name="Text 10"/>
          <p:cNvSpPr/>
          <p:nvPr/>
        </p:nvSpPr>
        <p:spPr>
          <a:xfrm>
            <a:off x="4950619" y="1398389"/>
            <a:ext cx="3693319" cy="385763"/>
          </a:xfrm>
          <a:prstGeom prst="rect">
            <a:avLst/>
          </a:prstGeom>
          <a:noFill/>
          <a:ln/>
        </p:spPr>
        <p:txBody>
          <a:bodyPr wrap="square" lIns="0" tIns="0" rIns="0" bIns="0" rtlCol="0" anchor="t">
            <a:spAutoFit/>
          </a:bodyPr>
          <a:lstStyle/>
          <a:p>
            <a:pPr marL="127000" indent="-127000" algn="l">
              <a:lnSpc>
                <a:spcPct val="120000"/>
              </a:lnSpc>
              <a:buSzPct val="100000"/>
              <a:buChar char="•"/>
            </a:pPr>
            <a:r>
              <a:rPr lang="en-US" sz="950" dirty="0">
                <a:solidFill>
                  <a:srgbClr val="212529"/>
                </a:solidFill>
                <a:latin typeface="Inter Medium" pitchFamily="34" charset="0"/>
                <a:ea typeface="Inter Medium" pitchFamily="34" charset="-122"/>
                <a:cs typeface="Inter Medium" pitchFamily="34" charset="-120"/>
              </a:rPr>
              <a:t>Multi-modal Detection:</a:t>
            </a:r>
            <a:r>
              <a:rPr lang="en-US" sz="950" dirty="0">
                <a:solidFill>
                  <a:srgbClr val="495057"/>
                </a:solidFill>
                <a:latin typeface="Inter Light" pitchFamily="34" charset="0"/>
                <a:ea typeface="Inter Light" pitchFamily="34" charset="-122"/>
                <a:cs typeface="Inter Light" pitchFamily="34" charset="-120"/>
              </a:rPr>
              <a:t> Integrating image and metadata analysis for more robust verification.</a:t>
            </a:r>
            <a:endParaRPr lang="en-US" sz="950" dirty="0"/>
          </a:p>
        </p:txBody>
      </p:sp>
      <p:sp>
        <p:nvSpPr>
          <p:cNvPr id="14" name="Text 11"/>
          <p:cNvSpPr/>
          <p:nvPr/>
        </p:nvSpPr>
        <p:spPr>
          <a:xfrm>
            <a:off x="4950619" y="1855589"/>
            <a:ext cx="3693319" cy="385763"/>
          </a:xfrm>
          <a:prstGeom prst="rect">
            <a:avLst/>
          </a:prstGeom>
          <a:noFill/>
          <a:ln/>
        </p:spPr>
        <p:txBody>
          <a:bodyPr wrap="square" lIns="0" tIns="0" rIns="0" bIns="0" rtlCol="0" anchor="t">
            <a:spAutoFit/>
          </a:bodyPr>
          <a:lstStyle/>
          <a:p>
            <a:pPr marL="127000" indent="-127000" algn="l">
              <a:lnSpc>
                <a:spcPct val="120000"/>
              </a:lnSpc>
              <a:buSzPct val="100000"/>
              <a:buChar char="•"/>
            </a:pPr>
            <a:r>
              <a:rPr lang="en-US" sz="950" dirty="0">
                <a:solidFill>
                  <a:srgbClr val="212529"/>
                </a:solidFill>
                <a:latin typeface="Inter Medium" pitchFamily="34" charset="0"/>
                <a:ea typeface="Inter Medium" pitchFamily="34" charset="-122"/>
                <a:cs typeface="Inter Medium" pitchFamily="34" charset="-120"/>
              </a:rPr>
              <a:t>Real-time Inference:</a:t>
            </a:r>
            <a:r>
              <a:rPr lang="en-US" sz="950" dirty="0">
                <a:solidFill>
                  <a:srgbClr val="495057"/>
                </a:solidFill>
                <a:latin typeface="Inter Light" pitchFamily="34" charset="0"/>
                <a:ea typeface="Inter Light" pitchFamily="34" charset="-122"/>
                <a:cs typeface="Inter Light" pitchFamily="34" charset="-120"/>
              </a:rPr>
              <a:t> Developing lightweight models for live social media monitoring.</a:t>
            </a:r>
            <a:endParaRPr lang="en-US" sz="950" dirty="0"/>
          </a:p>
        </p:txBody>
      </p:sp>
      <p:sp>
        <p:nvSpPr>
          <p:cNvPr id="15" name="Text 12"/>
          <p:cNvSpPr/>
          <p:nvPr/>
        </p:nvSpPr>
        <p:spPr>
          <a:xfrm>
            <a:off x="4950619" y="2312789"/>
            <a:ext cx="3693319" cy="385763"/>
          </a:xfrm>
          <a:prstGeom prst="rect">
            <a:avLst/>
          </a:prstGeom>
          <a:noFill/>
          <a:ln/>
        </p:spPr>
        <p:txBody>
          <a:bodyPr wrap="square" lIns="0" tIns="0" rIns="0" bIns="0" rtlCol="0" anchor="t">
            <a:spAutoFit/>
          </a:bodyPr>
          <a:lstStyle/>
          <a:p>
            <a:pPr marL="127000" indent="-127000" algn="l">
              <a:lnSpc>
                <a:spcPct val="120000"/>
              </a:lnSpc>
              <a:buSzPct val="100000"/>
              <a:buChar char="•"/>
            </a:pPr>
            <a:r>
              <a:rPr lang="en-US" sz="950" dirty="0">
                <a:solidFill>
                  <a:srgbClr val="212529"/>
                </a:solidFill>
                <a:latin typeface="Inter Medium" pitchFamily="34" charset="0"/>
                <a:ea typeface="Inter Medium" pitchFamily="34" charset="-122"/>
                <a:cs typeface="Inter Medium" pitchFamily="34" charset="-120"/>
              </a:rPr>
              <a:t>Dataset Expansion:</a:t>
            </a:r>
            <a:r>
              <a:rPr lang="en-US" sz="950" dirty="0">
                <a:solidFill>
                  <a:srgbClr val="495057"/>
                </a:solidFill>
                <a:latin typeface="Inter Light" pitchFamily="34" charset="0"/>
                <a:ea typeface="Inter Light" pitchFamily="34" charset="-122"/>
                <a:cs typeface="Inter Light" pitchFamily="34" charset="-120"/>
              </a:rPr>
              <a:t> Addressing class imbalance through advanced data augmentation and active learning.</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883</Words>
  <Application>Microsoft Office PowerPoint</Application>
  <PresentationFormat>On-screen Show (16:9)</PresentationFormat>
  <Paragraphs>101</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Inter Light</vt:lpstr>
      <vt:lpstr>Inter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Abdelrahman Mohamed</cp:lastModifiedBy>
  <cp:revision>3</cp:revision>
  <dcterms:created xsi:type="dcterms:W3CDTF">2026-05-10T07:57:22Z</dcterms:created>
  <dcterms:modified xsi:type="dcterms:W3CDTF">2026-05-10T08:22:34Z</dcterms:modified>
</cp:coreProperties>
</file>